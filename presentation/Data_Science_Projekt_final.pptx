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2"/>
  </p:notesMasterIdLst>
  <p:sldIdLst>
    <p:sldId id="257" r:id="rId4"/>
    <p:sldId id="258" r:id="rId5"/>
    <p:sldId id="261" r:id="rId6"/>
    <p:sldId id="260" r:id="rId7"/>
    <p:sldId id="265" r:id="rId8"/>
    <p:sldId id="267" r:id="rId9"/>
    <p:sldId id="263" r:id="rId10"/>
    <p:sldId id="266" r:id="rId11"/>
  </p:sldIdLst>
  <p:sldSz cx="10969625" cy="6170613"/>
  <p:notesSz cx="6858000" cy="9926638"/>
  <p:custDataLst>
    <p:tags r:id="rId13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966"/>
    <a:srgbClr val="3333FF"/>
    <a:srgbClr val="ED800C"/>
    <a:srgbClr val="3FD41E"/>
    <a:srgbClr val="4D1B43"/>
    <a:srgbClr val="3430A1"/>
    <a:srgbClr val="11AB14"/>
    <a:srgbClr val="89C47C"/>
    <a:srgbClr val="A459B3"/>
    <a:srgbClr val="54F7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9397A-BE5A-46C7-BA08-5E4983160311}" v="1491" dt="2025-12-05T08:31:26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Marc-Vincent Müller &amp; Kevin 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Widmann | </a:t>
            </a:r>
            <a:r>
              <a:rPr lang="de-DE" sz="600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Science Advanced - Bank Fraud Classification Project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12.12.2025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2025.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10A4A-309D-F922-B8CB-9A333F3C9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2602898"/>
            <a:ext cx="9827394" cy="1507549"/>
          </a:xfrm>
        </p:spPr>
        <p:txBody>
          <a:bodyPr>
            <a:normAutofit fontScale="90000"/>
          </a:bodyPr>
          <a:lstStyle/>
          <a:p>
            <a:r>
              <a:rPr lang="de-DE"/>
              <a:t>Data Science Advanced</a:t>
            </a:r>
            <a:br>
              <a:rPr lang="de-DE"/>
            </a:br>
            <a:r>
              <a:rPr lang="de-DE"/>
              <a:t>Bank Fraud Classification Project</a:t>
            </a:r>
            <a:br>
              <a:rPr lang="de-DE"/>
            </a:b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A7216A-1AE2-4F1A-6842-5076197D840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e-DE"/>
              <a:t>Marc-Vincent Müller, Kevin Widmann</a:t>
            </a:r>
          </a:p>
        </p:txBody>
      </p:sp>
    </p:spTree>
    <p:extLst>
      <p:ext uri="{BB962C8B-B14F-4D97-AF65-F5344CB8AC3E}">
        <p14:creationId xmlns:p14="http://schemas.microsoft.com/office/powerpoint/2010/main" val="56696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1C729-06C5-86A5-A2D9-4012AB67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</a:t>
            </a:r>
            <a:r>
              <a:rPr lang="de-DE" err="1"/>
              <a:t>set</a:t>
            </a:r>
            <a:r>
              <a:rPr lang="de-DE"/>
              <a:t> &amp; </a:t>
            </a:r>
            <a:r>
              <a:rPr lang="de-DE" err="1"/>
              <a:t>analysis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EAB34C-760A-4C47-3AF6-FBF7A302FB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5704BA-225B-B9CD-95AC-9999E989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69C315-99E0-8657-A78D-9ADBCA07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80"/>
          <a:stretch/>
        </p:blipFill>
        <p:spPr>
          <a:xfrm>
            <a:off x="643436" y="1306038"/>
            <a:ext cx="3544404" cy="259672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4148FB2-0675-3A8A-E531-27EB5E42A6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2" b="40412"/>
          <a:stretch/>
        </p:blipFill>
        <p:spPr>
          <a:xfrm>
            <a:off x="4626076" y="1140958"/>
            <a:ext cx="6204247" cy="36453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D0B3F4F-3B88-B8BA-7B14-F59A590D1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99" y="3902760"/>
            <a:ext cx="2448915" cy="705135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72D1D55-B136-8E8A-DE48-3A23A5A5DB86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F183F33-8D46-0A5F-95AB-1BAE4FDADA76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>
                <a:solidFill>
                  <a:schemeClr val="bg1"/>
                </a:solidFill>
              </a:rPr>
              <a:t>Highly unevenly distributed data, increase of fraud with higher income and age</a:t>
            </a:r>
          </a:p>
        </p:txBody>
      </p:sp>
    </p:spTree>
    <p:extLst>
      <p:ext uri="{BB962C8B-B14F-4D97-AF65-F5344CB8AC3E}">
        <p14:creationId xmlns:p14="http://schemas.microsoft.com/office/powerpoint/2010/main" val="166100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B330-E8CE-B5C9-D72D-483EA152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9C83F-F3E4-F193-D974-504A08B3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Steps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C77FAA-8F56-5DE6-B037-59AA35C032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200" y="245014"/>
            <a:ext cx="10558800" cy="388800"/>
          </a:xfrm>
        </p:spPr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08741C-5BDB-650D-7F0B-D8F9998E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902FDDD-574C-930B-1F1B-63A41A4D58B5}"/>
              </a:ext>
            </a:extLst>
          </p:cNvPr>
          <p:cNvSpPr txBox="1"/>
          <p:nvPr/>
        </p:nvSpPr>
        <p:spPr>
          <a:xfrm>
            <a:off x="349345" y="1261432"/>
            <a:ext cx="4812315" cy="41736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>
                <a:solidFill>
                  <a:srgbClr val="000000"/>
                </a:solidFill>
              </a:rPr>
              <a:t>Drop x1 and x2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Search </a:t>
            </a:r>
            <a:r>
              <a:rPr lang="de-DE" kern="0" err="1">
                <a:solidFill>
                  <a:srgbClr val="000000"/>
                </a:solidFill>
              </a:rPr>
              <a:t>missing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values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Drop c</a:t>
            </a:r>
            <a:r>
              <a:rPr lang="de-DE" kern="0" err="1">
                <a:solidFill>
                  <a:srgbClr val="000000"/>
                </a:solidFill>
              </a:rPr>
              <a:t>olumns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or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refill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values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with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imputation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err="1">
                <a:solidFill>
                  <a:srgbClr val="000000"/>
                </a:solidFill>
              </a:rPr>
              <a:t>One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hot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encoding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of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categorial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features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err="1">
                <a:solidFill>
                  <a:srgbClr val="000000"/>
                </a:solidFill>
              </a:rPr>
              <a:t>Scaling</a:t>
            </a:r>
            <a:r>
              <a:rPr lang="de-DE" kern="0">
                <a:solidFill>
                  <a:srgbClr val="000000"/>
                </a:solidFill>
              </a:rPr>
              <a:t> all </a:t>
            </a:r>
            <a:r>
              <a:rPr lang="de-DE" kern="0" err="1">
                <a:solidFill>
                  <a:srgbClr val="000000"/>
                </a:solidFill>
              </a:rPr>
              <a:t>features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>
                <a:solidFill>
                  <a:srgbClr val="000000"/>
                </a:solidFill>
              </a:rPr>
              <a:t>Feature </a:t>
            </a:r>
            <a:r>
              <a:rPr lang="de-DE" kern="0" err="1">
                <a:solidFill>
                  <a:srgbClr val="000000"/>
                </a:solidFill>
              </a:rPr>
              <a:t>selection</a:t>
            </a:r>
            <a:r>
              <a:rPr lang="de-DE" kern="0">
                <a:solidFill>
                  <a:srgbClr val="000000"/>
                </a:solidFill>
              </a:rPr>
              <a:t> (</a:t>
            </a:r>
            <a:r>
              <a:rPr lang="de-DE" kern="0" err="1">
                <a:solidFill>
                  <a:srgbClr val="000000"/>
                </a:solidFill>
              </a:rPr>
              <a:t>only</a:t>
            </a:r>
            <a:r>
              <a:rPr lang="de-DE" kern="0">
                <a:solidFill>
                  <a:srgbClr val="000000"/>
                </a:solidFill>
              </a:rPr>
              <a:t> log </a:t>
            </a:r>
            <a:r>
              <a:rPr lang="de-DE" kern="0" err="1">
                <a:solidFill>
                  <a:srgbClr val="000000"/>
                </a:solidFill>
              </a:rPr>
              <a:t>regression</a:t>
            </a:r>
            <a:r>
              <a:rPr lang="de-DE" kern="0">
                <a:solidFill>
                  <a:srgbClr val="000000"/>
                </a:solidFill>
              </a:rPr>
              <a:t>)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err="1">
                <a:solidFill>
                  <a:srgbClr val="000000"/>
                </a:solidFill>
              </a:rPr>
              <a:t>Define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models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>
                <a:solidFill>
                  <a:srgbClr val="000000"/>
                </a:solidFill>
              </a:rPr>
              <a:t>Data </a:t>
            </a:r>
            <a:r>
              <a:rPr lang="de-DE" kern="0" err="1">
                <a:solidFill>
                  <a:srgbClr val="000000"/>
                </a:solidFill>
              </a:rPr>
              <a:t>reduction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to</a:t>
            </a:r>
            <a:r>
              <a:rPr lang="de-DE" kern="0">
                <a:solidFill>
                  <a:srgbClr val="000000"/>
                </a:solidFill>
              </a:rPr>
              <a:t> 10 % and </a:t>
            </a:r>
            <a:r>
              <a:rPr lang="de-DE" kern="0" err="1">
                <a:solidFill>
                  <a:srgbClr val="000000"/>
                </a:solidFill>
              </a:rPr>
              <a:t>train</a:t>
            </a:r>
            <a:r>
              <a:rPr lang="de-DE" kern="0">
                <a:solidFill>
                  <a:srgbClr val="000000"/>
                </a:solidFill>
              </a:rPr>
              <a:t>-test-split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F3934D4-075C-53CE-FBA2-E10DA4FF7662}"/>
              </a:ext>
            </a:extLst>
          </p:cNvPr>
          <p:cNvSpPr txBox="1"/>
          <p:nvPr/>
        </p:nvSpPr>
        <p:spPr>
          <a:xfrm>
            <a:off x="5484600" y="1261432"/>
            <a:ext cx="4812315" cy="40711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err="1">
                <a:solidFill>
                  <a:srgbClr val="000000"/>
                </a:solidFill>
              </a:rPr>
              <a:t>Gridsearch</a:t>
            </a:r>
            <a:r>
              <a:rPr lang="de-DE" kern="0">
                <a:solidFill>
                  <a:srgbClr val="000000"/>
                </a:solidFill>
              </a:rPr>
              <a:t> (</a:t>
            </a:r>
            <a:r>
              <a:rPr lang="de-DE" kern="0" err="1">
                <a:solidFill>
                  <a:srgbClr val="000000"/>
                </a:solidFill>
              </a:rPr>
              <a:t>only</a:t>
            </a:r>
            <a:r>
              <a:rPr lang="de-DE" kern="0">
                <a:solidFill>
                  <a:srgbClr val="000000"/>
                </a:solidFill>
              </a:rPr>
              <a:t> log </a:t>
            </a:r>
            <a:r>
              <a:rPr lang="de-DE" kern="0" err="1">
                <a:solidFill>
                  <a:srgbClr val="000000"/>
                </a:solidFill>
              </a:rPr>
              <a:t>regression</a:t>
            </a:r>
            <a:r>
              <a:rPr lang="de-DE" kern="0">
                <a:solidFill>
                  <a:srgbClr val="000000"/>
                </a:solidFill>
              </a:rPr>
              <a:t> and </a:t>
            </a:r>
            <a:r>
              <a:rPr lang="de-DE" kern="0" err="1">
                <a:solidFill>
                  <a:srgbClr val="000000"/>
                </a:solidFill>
              </a:rPr>
              <a:t>decision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trees</a:t>
            </a:r>
            <a:r>
              <a:rPr lang="de-DE" kern="0">
                <a:solidFill>
                  <a:srgbClr val="000000"/>
                </a:solidFill>
              </a:rPr>
              <a:t>) 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Optimization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 Score:</a:t>
            </a:r>
            <a:b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</a:b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ROC-AUC</a:t>
            </a:r>
            <a:endParaRPr lang="de-DE" kern="0">
              <a:solidFill>
                <a:srgbClr val="000000"/>
              </a:solidFill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>
                <a:solidFill>
                  <a:srgbClr val="000000"/>
                </a:solidFill>
              </a:rPr>
              <a:t>Fit </a:t>
            </a:r>
            <a:r>
              <a:rPr lang="de-DE" kern="0" err="1">
                <a:solidFill>
                  <a:srgbClr val="000000"/>
                </a:solidFill>
              </a:rPr>
              <a:t>best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model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with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best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hyperparameters</a:t>
            </a:r>
            <a:r>
              <a:rPr lang="de-DE" kern="0">
                <a:solidFill>
                  <a:srgbClr val="000000"/>
                </a:solidFill>
              </a:rPr>
              <a:t> on all </a:t>
            </a:r>
            <a:r>
              <a:rPr lang="de-DE" kern="0" err="1">
                <a:solidFill>
                  <a:srgbClr val="000000"/>
                </a:solidFill>
              </a:rPr>
              <a:t>train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data</a:t>
            </a:r>
            <a:endParaRPr lang="de-DE" kern="0">
              <a:solidFill>
                <a:srgbClr val="000000"/>
              </a:solidFill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>
                <a:solidFill>
                  <a:srgbClr val="000000"/>
                </a:solidFill>
              </a:rPr>
              <a:t>Model </a:t>
            </a:r>
            <a:r>
              <a:rPr lang="de-DE" kern="0" err="1">
                <a:solidFill>
                  <a:srgbClr val="000000"/>
                </a:solidFill>
              </a:rPr>
              <a:t>evaluation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 Precision-Recall-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Curve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: Threshold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optimization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 on at least 75 % Recall on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test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data</a:t>
            </a:r>
            <a:endParaRPr lang="de-DE" ker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err="1">
                <a:solidFill>
                  <a:srgbClr val="000000"/>
                </a:solidFill>
              </a:rPr>
              <a:t>Visualisation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with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Confusion</a:t>
            </a:r>
            <a:r>
              <a:rPr lang="de-DE" kern="0">
                <a:solidFill>
                  <a:srgbClr val="000000"/>
                </a:solidFill>
              </a:rPr>
              <a:t> Matrix</a:t>
            </a: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err="1">
                <a:solidFill>
                  <a:srgbClr val="000000"/>
                </a:solidFill>
              </a:rPr>
              <a:t>Comparison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of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results</a:t>
            </a:r>
            <a:r>
              <a:rPr lang="de-DE" kern="0">
                <a:solidFill>
                  <a:srgbClr val="000000"/>
                </a:solidFill>
              </a:rPr>
              <a:t> on </a:t>
            </a:r>
            <a:r>
              <a:rPr lang="de-DE" kern="0" err="1">
                <a:solidFill>
                  <a:srgbClr val="000000"/>
                </a:solidFill>
              </a:rPr>
              <a:t>train</a:t>
            </a:r>
            <a:r>
              <a:rPr lang="de-DE" kern="0">
                <a:solidFill>
                  <a:srgbClr val="000000"/>
                </a:solidFill>
              </a:rPr>
              <a:t> and </a:t>
            </a:r>
            <a:r>
              <a:rPr lang="de-DE" kern="0" err="1">
                <a:solidFill>
                  <a:srgbClr val="000000"/>
                </a:solidFill>
              </a:rPr>
              <a:t>test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data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/>
            </a:pP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6F6A2F0-BDC8-6872-F8FC-B34E5761CF18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>
                <a:solidFill>
                  <a:schemeClr val="bg1"/>
                </a:solidFill>
              </a:rPr>
              <a:t>First optimization on ROC-AUC score, then threshold adjustment on at least 75 % Recall</a:t>
            </a:r>
          </a:p>
        </p:txBody>
      </p:sp>
    </p:spTree>
    <p:extLst>
      <p:ext uri="{BB962C8B-B14F-4D97-AF65-F5344CB8AC3E}">
        <p14:creationId xmlns:p14="http://schemas.microsoft.com/office/powerpoint/2010/main" val="259808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BBDD-287C-3649-B16A-68FA0313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02925-9A17-0E4A-371F-A802D952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Logistic</a:t>
            </a:r>
            <a:r>
              <a:rPr lang="de-DE"/>
              <a:t> Regression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D13CF8-6692-E7BA-C548-81FB067DC7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3A0ACD-A858-114B-DD3F-44A79826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F35189A-0223-53B0-4404-A5A2970A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70" y="1425600"/>
            <a:ext cx="4301709" cy="288621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31030A8-3FB1-2AF7-883D-35869338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15" y="4366242"/>
            <a:ext cx="3030175" cy="36209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BB1E34C-2BD3-88E9-8419-00BFD3711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05" y="1129338"/>
            <a:ext cx="6043495" cy="250017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F6ADDC1-16ED-E12A-4033-266E4976F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076" y="3645731"/>
            <a:ext cx="2629237" cy="123728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8BE5E509-1DDF-D7D2-85D8-28D7BF766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364" y="3645731"/>
            <a:ext cx="2656916" cy="1218365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87259A24-D9C6-340D-EA69-CD8959D78A85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>
                <a:solidFill>
                  <a:schemeClr val="bg1"/>
                </a:solidFill>
              </a:rPr>
              <a:t>Without SMOTE, ridge regression, class weight: None, C: 3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3F88D85-E861-42CC-424F-5CB873011B01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09B3B73A-196B-13AA-3493-05D40275EB53}"/>
              </a:ext>
            </a:extLst>
          </p:cNvPr>
          <p:cNvSpPr/>
          <p:nvPr/>
        </p:nvSpPr>
        <p:spPr>
          <a:xfrm>
            <a:off x="5311869" y="4239509"/>
            <a:ext cx="5355413" cy="14462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16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EBA98-4CF1-EC1E-78BA-D52BFE50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79429B-168B-B179-4ED6-6A2EF39A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Decision</a:t>
            </a:r>
            <a:r>
              <a:rPr lang="de-DE"/>
              <a:t> </a:t>
            </a:r>
            <a:r>
              <a:rPr lang="de-DE" err="1"/>
              <a:t>Tree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2AF680-942F-6A95-9588-50BD853F23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FA8AC7-CB80-5AEE-D0C6-80B0840C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730963C-FA84-05C1-DB3B-44FF0E734B6F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E0611EC0-8CE2-1551-1AFD-C2B2245A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69" y="1486969"/>
            <a:ext cx="4170812" cy="281396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752952A-403A-BA2E-E707-163686EB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59" y="4300931"/>
            <a:ext cx="2992059" cy="3335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A1EAFD5-FC43-75C4-2D5B-4F43BED5E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71" y="1119773"/>
            <a:ext cx="6179383" cy="255122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FCDBF74-5357-B613-07F6-C23195127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508" y="3761240"/>
            <a:ext cx="2706762" cy="125776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4FDDB73-9DC2-A277-FABF-E54C8EBA1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199" y="3761239"/>
            <a:ext cx="2702691" cy="1257762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509FDF86-6B06-1E29-BBCE-AE3C64134CA7}"/>
              </a:ext>
            </a:extLst>
          </p:cNvPr>
          <p:cNvSpPr/>
          <p:nvPr/>
        </p:nvSpPr>
        <p:spPr>
          <a:xfrm>
            <a:off x="5311869" y="4359153"/>
            <a:ext cx="5355413" cy="14462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7BE245C-601A-2088-D488-A40C50B6C3BA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>
                <a:solidFill>
                  <a:schemeClr val="bg1"/>
                </a:solidFill>
              </a:rPr>
              <a:t>Best tree: </a:t>
            </a:r>
            <a:r>
              <a:rPr lang="en-AU" err="1">
                <a:solidFill>
                  <a:schemeClr val="bg1"/>
                </a:solidFill>
              </a:rPr>
              <a:t>LightGBM</a:t>
            </a:r>
            <a:r>
              <a:rPr lang="en-AU">
                <a:solidFill>
                  <a:schemeClr val="bg1"/>
                </a:solidFill>
              </a:rPr>
              <a:t>, max depth: 3, n estimators: 300, num leaves: 3, scale pos weight: 1, learning rate: 1 </a:t>
            </a:r>
          </a:p>
        </p:txBody>
      </p:sp>
    </p:spTree>
    <p:extLst>
      <p:ext uri="{BB962C8B-B14F-4D97-AF65-F5344CB8AC3E}">
        <p14:creationId xmlns:p14="http://schemas.microsoft.com/office/powerpoint/2010/main" val="382761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F486-8D23-2A81-4E77-42C58B2B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8F22A-0ADE-266D-5D7F-61DFFB1C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Decision</a:t>
            </a:r>
            <a:r>
              <a:rPr lang="de-DE"/>
              <a:t> </a:t>
            </a:r>
            <a:r>
              <a:rPr lang="de-DE" err="1"/>
              <a:t>Tree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DB8078-9B52-BEB2-1483-7E055535F6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7D58C9-0263-0157-9344-2F8CE7AA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3ED10F0-413D-A0F8-AB7F-A3ACC5BDED16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42A6672A-115C-13DB-3966-3F680B3B6B45}"/>
              </a:ext>
            </a:extLst>
          </p:cNvPr>
          <p:cNvSpPr txBox="1"/>
          <p:nvPr/>
        </p:nvSpPr>
        <p:spPr>
          <a:xfrm>
            <a:off x="0" y="5024927"/>
            <a:ext cx="10969625" cy="53847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ROC curve: Plotting the </a:t>
            </a:r>
            <a:r>
              <a:rPr lang="en-US" dirty="0">
                <a:solidFill>
                  <a:schemeClr val="bg1"/>
                </a:solidFill>
              </a:rPr>
              <a:t>TPR over the FPR at each possible threshold, ROC-AUC: Area under the curve, chance: 0.5; Sensitivity/Specificity: : How well are True Positive (Recall)/False Negative values detected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5511732-13DA-8940-CA8A-E1F79B72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6" y="1398417"/>
            <a:ext cx="4375785" cy="337931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28636CE-A508-B127-4445-15DD57D4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278" y="1336780"/>
            <a:ext cx="4874129" cy="349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6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CC53-9A39-8A48-45B9-6FB8E1A2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5592D-1F89-B4AC-B0F8-918C98ED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Neural</a:t>
            </a:r>
            <a:r>
              <a:rPr lang="de-DE"/>
              <a:t> Network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2ADE9A-EAC6-ACC7-5FD8-0A12A39F8E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B6E635-B63A-EA71-621E-0C96F6D9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D5D995-A93B-B55B-0975-365E0497041B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669BB16D-B72C-D8B2-8EFD-A24FC6F36DCB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>
                <a:solidFill>
                  <a:schemeClr val="bg1"/>
                </a:solidFill>
              </a:rPr>
              <a:t>2 intermediate layers, </a:t>
            </a:r>
            <a:r>
              <a:rPr lang="en-AU" err="1">
                <a:solidFill>
                  <a:schemeClr val="bg1"/>
                </a:solidFill>
              </a:rPr>
              <a:t>ReLU</a:t>
            </a:r>
            <a:r>
              <a:rPr lang="en-AU">
                <a:solidFill>
                  <a:schemeClr val="bg1"/>
                </a:solidFill>
              </a:rPr>
              <a:t> activation , regularisation: Dropout against overfitting, early stopping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84A437C-CDF7-5699-7662-6CFA774E0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44" y="3105456"/>
            <a:ext cx="3231755" cy="213563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29B8F-31DF-2FA1-2B06-D9FD7086D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3" y="1049117"/>
            <a:ext cx="3213116" cy="20221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B6C024C-AD0F-640D-9074-354F87F06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497" y="1079979"/>
            <a:ext cx="6085806" cy="248655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6691C16-7A10-0E98-5C36-3D2A5626B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976" y="3609710"/>
            <a:ext cx="2727151" cy="122871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9A4EEEB-57BB-CE03-8F98-B986D62CC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177" y="3609710"/>
            <a:ext cx="2652823" cy="1219857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60FC4BD3-85CC-4A3D-1CB6-97CC4C4E7F3D}"/>
              </a:ext>
            </a:extLst>
          </p:cNvPr>
          <p:cNvSpPr/>
          <p:nvPr/>
        </p:nvSpPr>
        <p:spPr>
          <a:xfrm>
            <a:off x="5433470" y="4208470"/>
            <a:ext cx="5355413" cy="14462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8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5C6B-D103-304F-8216-151140DE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CBBC77-6C84-0317-374A-1BDE67D4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Comparison</a:t>
            </a:r>
            <a:r>
              <a:rPr lang="de-DE"/>
              <a:t> and </a:t>
            </a:r>
            <a:r>
              <a:rPr lang="de-DE" err="1"/>
              <a:t>summary</a:t>
            </a:r>
            <a:r>
              <a:rPr lang="de-DE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ED1F0C-2299-08E9-4F41-309E6BE2E5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70D448-2ECB-B948-CBF1-AE4AC39F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61FC9F4-8A3D-F16E-B38C-DCA733783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54" y="1190228"/>
            <a:ext cx="6983197" cy="365563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3D0E59D-6D5E-CDC7-C19C-668EB383DE88}"/>
              </a:ext>
            </a:extLst>
          </p:cNvPr>
          <p:cNvSpPr txBox="1"/>
          <p:nvPr/>
        </p:nvSpPr>
        <p:spPr>
          <a:xfrm>
            <a:off x="0" y="4999291"/>
            <a:ext cx="10969625" cy="564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US">
                <a:solidFill>
                  <a:schemeClr val="bg1"/>
                </a:solidFill>
              </a:rPr>
              <a:t>Very similar scores regardless of the model, best results with </a:t>
            </a:r>
            <a:r>
              <a:rPr lang="en-US" err="1">
                <a:solidFill>
                  <a:schemeClr val="bg1"/>
                </a:solidFill>
              </a:rPr>
              <a:t>LightGBM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de-DE" err="1">
                <a:solidFill>
                  <a:schemeClr val="bg1"/>
                </a:solidFill>
              </a:rPr>
              <a:t>difficult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fraud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detection</a:t>
            </a:r>
            <a:r>
              <a:rPr lang="de-DE">
                <a:solidFill>
                  <a:schemeClr val="bg1"/>
                </a:solidFill>
              </a:rPr>
              <a:t> due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uneven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distrubtion</a:t>
            </a:r>
            <a:r>
              <a:rPr lang="de-DE">
                <a:solidFill>
                  <a:schemeClr val="bg1"/>
                </a:solidFill>
              </a:rPr>
              <a:t>, Additional </a:t>
            </a:r>
            <a:r>
              <a:rPr lang="de-DE" err="1">
                <a:solidFill>
                  <a:schemeClr val="bg1"/>
                </a:solidFill>
              </a:rPr>
              <a:t>features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required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improve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model</a:t>
            </a:r>
            <a:r>
              <a:rPr lang="de-DE">
                <a:solidFill>
                  <a:schemeClr val="bg1"/>
                </a:solidFill>
              </a:rPr>
              <a:t> (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example</a:t>
            </a:r>
            <a:r>
              <a:rPr lang="de-DE">
                <a:solidFill>
                  <a:schemeClr val="bg1"/>
                </a:solidFill>
              </a:rPr>
              <a:t> x1 and x2)</a:t>
            </a:r>
          </a:p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US">
                <a:solidFill>
                  <a:schemeClr val="bg1"/>
                </a:solidFill>
              </a:rPr>
              <a:t> </a:t>
            </a:r>
            <a:endParaRPr lang="en-A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868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/////wQAMw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6DvJEmMKNBKjf6oiiLOm6oEAAAAAAADAAAAAAADAAAAAwADAAAAAAADAAAAAwADAAIA////////BQAAAAMAEAALAX9LyMZh3UuIF52+S7HJxQQAAAABAAMAAAACAAMAAAABAAM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oO8kSYwo0EqN/qiKIs6bqgNEYXRhAFMAAAAIUHJlc2VudGF0aW9uU2Nhbm5lZEZvckxpbmtlZFNoYXBlcwAAAk51bWJlckZvcm1hdFNlcGFyYXRvck1vZGUACgAAAEF1dG9tYXRpYwAAAk5hbWUAJAAAAExpbmtlZFNoYXBlUHJlc2VudGF0aW9uU2V0dGluZ3NEYXRhABBWZXJzaW9uAAAAAAAJTGFzdFdyaXRlAE1RvCyYAQAAAAEA/////4MAgwAAAAVfaWQAEAAAAAQBf0vIxmHdS4gXnb5LscnFA0RhdGEAGwAAAARMaW5rZWRTaGFwZURhdGEABQAAAAAAAk5hbWUAGQAAAExpbmtlZFNoYXBlc0RhdGFQcm9wZXJ0eQAQVmVyc2lvbgABAAAACUxhc3RXcml0ZQBMUbws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sDA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QEDAAAAAwD///////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86939958905006"/>
  <p:tag name="EMPOWERCHARTSPROPERTIES_A_LENGTH" val="24576"/>
  <p:tag name="COAUTHORING_SESSION_ID" val="c451aec2-aa98-4992-96ee-4eb36fd598e6"/>
  <p:tag name="UNDO_REDO_REVISION" val="9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M/PJ-SOFC-ECS2</OrgInhalt>
      <Wert>M/PJ-SOFC-ECS2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>Intern C-SC1</Wert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2025. Alle Rechte vorbehalten, auch bzgl. jeder Verfügung, Verwertung, Reproduktion, Bearbeitung, Weitergabe sowie für den Fall von Schutzrechtsanmeldungen.</OrgInhalt>
      <Wert>© Robert Bosch GmbH 2025.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18.07.2025</OrgInhalt>
      <Wert>18.07.2025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Power Solutions</OrgInhalt>
      <Wert>Power 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345</Words>
  <Application>Microsoft Office PowerPoint</Application>
  <PresentationFormat>Benutzerdefiniert</PresentationFormat>
  <Paragraphs>44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Bosch Office Sans</vt:lpstr>
      <vt:lpstr>Calibri</vt:lpstr>
      <vt:lpstr>Symbol</vt:lpstr>
      <vt:lpstr>Wingdings</vt:lpstr>
      <vt:lpstr>Bosch 2024</vt:lpstr>
      <vt:lpstr>Data Science Advanced Bank Fraud Classification Project </vt:lpstr>
      <vt:lpstr>Data set &amp; analysis</vt:lpstr>
      <vt:lpstr>Steps</vt:lpstr>
      <vt:lpstr>Model – Logistic Regression</vt:lpstr>
      <vt:lpstr>Model – Decision Tree</vt:lpstr>
      <vt:lpstr>Model – Decision Tree</vt:lpstr>
      <vt:lpstr>Model – Neural Network</vt:lpstr>
      <vt:lpstr>Model – Comparison and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Heyer Martin (PS-SF/ECS2)</dc:creator>
  <cp:lastModifiedBy>Mueller Marc-Vincent (PS-SF/ECS2)</cp:lastModifiedBy>
  <cp:revision>1</cp:revision>
  <cp:lastPrinted>2025-07-29T07:00:02Z</cp:lastPrinted>
  <dcterms:created xsi:type="dcterms:W3CDTF">2025-07-18T12:03:16Z</dcterms:created>
  <dcterms:modified xsi:type="dcterms:W3CDTF">2025-12-05T08:31:26Z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