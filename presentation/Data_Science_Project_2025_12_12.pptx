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71" r:id="rId2"/>
    <p:sldId id="324" r:id="rId3"/>
    <p:sldId id="326" r:id="rId4"/>
    <p:sldId id="327" r:id="rId5"/>
    <p:sldId id="328" r:id="rId6"/>
    <p:sldId id="329" r:id="rId7"/>
    <p:sldId id="330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6B1E1"/>
    <a:srgbClr val="3399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301B821-A1FF-4177-AEE7-76D212191A09}" styleName="Mittlere Formatvorlage 1 - Akz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1E171933-4619-4E11-9A3F-F7608DF75F80}" styleName="Mittlere Formatvorlage 1 - Akz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83172" autoAdjust="0"/>
  </p:normalViewPr>
  <p:slideViewPr>
    <p:cSldViewPr snapToGrid="0">
      <p:cViewPr varScale="1">
        <p:scale>
          <a:sx n="107" d="100"/>
          <a:sy n="107" d="100"/>
        </p:scale>
        <p:origin x="6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912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C7F5F0-03FF-484D-B139-00FC5868323B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CC99C-B113-4E2B-BDFF-5CC12A7065D7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66499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sz="1200" b="1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CC99C-B113-4E2B-BDFF-5CC12A7065D7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83068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CC99C-B113-4E2B-BDFF-5CC12A7065D7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26674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60A722-786F-C9CD-71CD-A28DF8F6F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28504773-FBDC-64C7-CED0-EC06E5211A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F5309A24-1726-4677-535A-93B9AB91F47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36F0E89-1E78-E1B8-81DA-45AE9818AD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CC99C-B113-4E2B-BDFF-5CC12A7065D7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907427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0B59AD-58D1-312F-45D7-D820EEA885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1E26A9A7-DF46-D38B-9B72-6BD0A90E777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DE894FA-E71E-A1A8-2641-76F091FAC26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0ACC09F5-27B9-6CB7-D390-A201B9B4DF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CC99C-B113-4E2B-BDFF-5CC12A7065D7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2168487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E42153-D216-5E3B-D84A-1DF77B156F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E458686-09AA-7ED1-46B9-BA9D7237B5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83C3B50-871B-3C78-5063-9329EB31F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D67591F-5718-D7F7-7C21-1C1B3E1652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CC99C-B113-4E2B-BDFF-5CC12A7065D7}" type="slidenum">
              <a:rPr lang="de-DE" smtClean="0"/>
              <a:t>5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7608358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90EC2F-98E6-45FD-96F7-F0912E88CC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3C902C7-0B1C-7EB4-7DC3-DECF51EC5F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CDEE6FFD-46E0-924D-B242-9A372B1445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5D74EEE-0931-C76B-12D4-6AE9D6AD257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CC99C-B113-4E2B-BDFF-5CC12A7065D7}" type="slidenum">
              <a:rPr lang="de-DE" smtClean="0"/>
              <a:t>6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1431234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F52EB-B202-52C8-4B37-B370D4FE49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A337102-E9F6-3779-77D4-903771C8EB9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AEB500D9-A8CC-7797-A0A9-27E01488DF0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EA3E7382-7B8B-A026-A212-AE2B436882C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4CC99C-B113-4E2B-BDFF-5CC12A7065D7}" type="slidenum">
              <a:rPr lang="de-DE" smtClean="0"/>
              <a:t>7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2257324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074025F-4FEC-3341-EED3-7759A41A60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4CC7B369-B335-A703-510E-D00DA640F46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596121C-1C57-21B6-AA56-B92FB4949A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B32491B-7E6F-43DE-1F07-5373DEC7FB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1968A15-6827-E363-8971-1AFC0D6008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647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F33938-99C4-846F-E606-16233C6A5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52242F7-67F9-5D4D-F9C1-6BB9180F58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F8A7AAC-5275-380C-C1FA-533EF7D5B2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AE9852F-525B-D456-97E5-28FBDCC476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26FA57F-618A-326B-5268-F4921C23A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950807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91E59B-C875-3545-BA9D-4B43FDAE6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538A1B12-0C92-376E-FDB5-4A8C74D460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12DA6CA-7C39-7A99-DAE2-6A59CF5315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2BD2940-598A-FB6F-2129-AC2914A0EE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3672BF09-E5B2-E2E0-34F2-B3712950B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63251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DF54E4E-D345-D5D0-600B-058528C316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369252C-9127-2CF4-CDE7-C3B8E2B3C5C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4EA11AD1-6759-3A3C-AD35-C7747665E84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230175B-CE7C-7DE9-915C-AA267B450B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D544CE88-4A01-0789-91C2-B50A200B11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29A5ABD-B59D-2FB4-FA2F-C735730B5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367559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17DD1C6-93BA-9B03-24D7-1EB4D0611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98FFC50-3ECF-11F7-DCFD-F58FCA58DD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8C3D917B-0E98-B6F7-DA97-9DBF72AFE8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7075B66D-DDA3-1D41-B2B8-9BCFED7691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CEF0CBF-9895-81FC-A740-0E27FC78C74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016BEAE5-EF3E-CCAA-D70D-120A8FC8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3865C47A-0447-7AB6-D83B-E2EC04FA0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F13C6D69-CDA0-FCD3-ED2E-7C5D1009F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59319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596F2A4-DF7F-4A2F-994B-3D2F7401AC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7862D8F4-50E5-7CF3-6C18-1EE3368A33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50EEA40B-E71D-F0D2-A389-48E672712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1FA4C12C-ECAC-FAA9-7211-92C0F1E174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976793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6A93519-2314-9E34-C54E-9A3A8239D2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25F16F7C-6F0E-DA50-FFAD-C0F854303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D98BF04-5A90-5ED8-4583-7D2EA392A7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846655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3F1479A-E04F-C087-8CFC-678F2F11A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E5086D2-B864-8EDF-383F-91E59228392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597E58D-C05E-C878-9C59-32B229FA344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04FAEA3B-7A4C-40FF-0FB2-61FF5D6FA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A7A78446-9388-80A7-C52A-8D182CBA2D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67CA765E-2B06-8592-C47C-1783721903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927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0B7DF8D-F619-F0B1-00BE-4DB874FDD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B5A93F68-9855-3AE7-8D7F-E7DF744447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C4E3647-EE35-BEF8-B56F-60361381433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AEF5823-3E64-863A-B879-628B3AF55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CCCD217A-1615-73C0-AD67-4722EC712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BE7AD2D-EA63-783F-1657-C1A8376879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39677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2FD0AFC-A218-2F12-4C9D-E112E20CB7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C15708F9-71BF-DDC7-46C2-DCE36EC281A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0931CAF-11F1-74F8-7FD2-5463AA227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96B6ECB-990F-D010-3735-4B54E1ACE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DD369E47-C5ED-600C-F8DC-88EC15965E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00872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970CF4C4-9293-1B73-D692-ED50E571BB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1A9D1392-777C-C209-4B29-59F2CE7B3A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502A5C8-8505-C010-D270-54B9F4BCD1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07D0437-D020-6B77-611D-95C86C9F79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16B346B2-0C29-0E8B-B57A-F8E3A44D4B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675717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27E6412C-A7EE-5C66-D5B6-E583DBBC08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33CA5EDB-D7BC-1266-7450-4C49254A4A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F094D1E-0C5D-7DB9-4494-F8EBCFE628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91792F-E7CC-4274-BE91-853952DD00CD}" type="datetimeFigureOut">
              <a:rPr lang="de-DE" smtClean="0"/>
              <a:t>17.02.2026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026F2DB-53A8-F6FC-08D5-C0CC933590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D53C7FD-59C2-D1D7-4609-45E509A7E7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E5648D-D649-4F9D-88A2-4C31D681EA98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95620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0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Inhaltsplatzhalter 2">
            <a:extLst>
              <a:ext uri="{FF2B5EF4-FFF2-40B4-BE49-F238E27FC236}">
                <a16:creationId xmlns:a16="http://schemas.microsoft.com/office/drawing/2014/main" id="{897C3225-938E-77C0-F7C2-08D3F153A1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6031" y="3182384"/>
            <a:ext cx="8074815" cy="1554906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de-DE" sz="2000" dirty="0">
                <a:cs typeface="Times New Roman" panose="02020603050405020304" pitchFamily="18" charset="0"/>
              </a:rPr>
              <a:t>Marc-Vincent Müller</a:t>
            </a:r>
          </a:p>
          <a:p>
            <a:pPr marL="0" indent="0">
              <a:buNone/>
            </a:pPr>
            <a:r>
              <a:rPr lang="de-DE" sz="2000" dirty="0">
                <a:cs typeface="Times New Roman" panose="02020603050405020304" pitchFamily="18" charset="0"/>
              </a:rPr>
              <a:t>12.12.2025</a:t>
            </a:r>
          </a:p>
        </p:txBody>
      </p:sp>
      <p:sp>
        <p:nvSpPr>
          <p:cNvPr id="53" name="Titel 52">
            <a:extLst>
              <a:ext uri="{FF2B5EF4-FFF2-40B4-BE49-F238E27FC236}">
                <a16:creationId xmlns:a16="http://schemas.microsoft.com/office/drawing/2014/main" id="{A3038956-EC6F-5E42-DE15-10078EEB8B1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86031" y="1231493"/>
            <a:ext cx="7991320" cy="12440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spcAft>
                <a:spcPts val="800"/>
              </a:spcAft>
            </a:pPr>
            <a:r>
              <a:rPr lang="de-DE" sz="2800" dirty="0"/>
              <a:t>Data Science </a:t>
            </a:r>
            <a:r>
              <a:rPr lang="de-DE" sz="2800" dirty="0" err="1"/>
              <a:t>Advanced</a:t>
            </a:r>
            <a:br>
              <a:rPr lang="de-DE" sz="2800" dirty="0"/>
            </a:br>
            <a:r>
              <a:rPr lang="de-DE" sz="2800" dirty="0"/>
              <a:t>Bank Fraud Classification Project</a:t>
            </a:r>
            <a:endParaRPr lang="de-DE" sz="28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cxnSp>
        <p:nvCxnSpPr>
          <p:cNvPr id="59" name="Gerader Verbinder 58">
            <a:extLst>
              <a:ext uri="{FF2B5EF4-FFF2-40B4-BE49-F238E27FC236}">
                <a16:creationId xmlns:a16="http://schemas.microsoft.com/office/drawing/2014/main" id="{723FC4CD-6318-5502-014F-4F5B0542C53E}"/>
              </a:ext>
            </a:extLst>
          </p:cNvPr>
          <p:cNvCxnSpPr>
            <a:cxnSpLocks/>
          </p:cNvCxnSpPr>
          <p:nvPr/>
        </p:nvCxnSpPr>
        <p:spPr>
          <a:xfrm flipH="1">
            <a:off x="1070203" y="2847975"/>
            <a:ext cx="8426222" cy="0"/>
          </a:xfrm>
          <a:prstGeom prst="line">
            <a:avLst/>
          </a:prstGeom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79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6">
            <a:extLst>
              <a:ext uri="{FF2B5EF4-FFF2-40B4-BE49-F238E27FC236}">
                <a16:creationId xmlns:a16="http://schemas.microsoft.com/office/drawing/2014/main" id="{CB97E85B-1E7D-3F30-A600-3572C1D5E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53" y="427001"/>
            <a:ext cx="10800000" cy="360000"/>
          </a:xfrm>
        </p:spPr>
        <p:txBody>
          <a:bodyPr>
            <a:normAutofit fontScale="90000"/>
          </a:bodyPr>
          <a:lstStyle/>
          <a:p>
            <a:r>
              <a:rPr lang="de-DE" dirty="0"/>
              <a:t>Data Science </a:t>
            </a:r>
            <a:r>
              <a:rPr lang="de-DE" dirty="0" err="1"/>
              <a:t>Advanced</a:t>
            </a:r>
            <a:r>
              <a:rPr lang="de-DE" dirty="0"/>
              <a:t> – Bank Fraud</a:t>
            </a:r>
          </a:p>
        </p:txBody>
      </p:sp>
      <p:sp>
        <p:nvSpPr>
          <p:cNvPr id="6" name="Fußzeilenplatzhalter 1">
            <a:extLst>
              <a:ext uri="{FF2B5EF4-FFF2-40B4-BE49-F238E27FC236}">
                <a16:creationId xmlns:a16="http://schemas.microsoft.com/office/drawing/2014/main" id="{7563C20B-F0ED-5A43-41E5-23AF5BCDBF05}"/>
              </a:ext>
            </a:extLst>
          </p:cNvPr>
          <p:cNvSpPr txBox="1">
            <a:spLocks/>
          </p:cNvSpPr>
          <p:nvPr/>
        </p:nvSpPr>
        <p:spPr>
          <a:xfrm>
            <a:off x="516470" y="6465924"/>
            <a:ext cx="1152312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0" noProof="1"/>
              <a:t>Marc-Vincent Müller | </a:t>
            </a:r>
            <a:r>
              <a:rPr lang="de-DE" sz="1000" kern="0" dirty="0"/>
              <a:t>Data Science </a:t>
            </a:r>
            <a:r>
              <a:rPr lang="de-DE" sz="1000" kern="0" dirty="0" err="1"/>
              <a:t>Advanced</a:t>
            </a:r>
            <a:r>
              <a:rPr lang="de-DE" sz="1000" kern="0" dirty="0"/>
              <a:t> - Bank Fraud Classification Project</a:t>
            </a:r>
            <a:r>
              <a:rPr lang="en-US" sz="1000" kern="0" noProof="1"/>
              <a:t> | 12.12.2025							</a:t>
            </a:r>
            <a:fld id="{84657114-EDC7-41E0-9FB3-EE17A95DA6E7}" type="slidenum">
              <a:rPr lang="de-DE" sz="1200" smtClean="0">
                <a:cs typeface="Times New Roman" panose="02020603050405020304" pitchFamily="18" charset="0"/>
              </a:rPr>
              <a:t>2</a:t>
            </a:fld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										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8CA5A93C-12E1-C95F-2981-C1C499B9CFF6}"/>
              </a:ext>
            </a:extLst>
          </p:cNvPr>
          <p:cNvCxnSpPr>
            <a:cxnSpLocks/>
          </p:cNvCxnSpPr>
          <p:nvPr/>
        </p:nvCxnSpPr>
        <p:spPr>
          <a:xfrm flipH="1">
            <a:off x="441553" y="1217522"/>
            <a:ext cx="11304000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el 1">
            <a:extLst>
              <a:ext uri="{FF2B5EF4-FFF2-40B4-BE49-F238E27FC236}">
                <a16:creationId xmlns:a16="http://schemas.microsoft.com/office/drawing/2014/main" id="{CF5BA805-D6ED-E9A3-EA5A-B1D889ECDFB7}"/>
              </a:ext>
            </a:extLst>
          </p:cNvPr>
          <p:cNvSpPr txBox="1">
            <a:spLocks/>
          </p:cNvSpPr>
          <p:nvPr/>
        </p:nvSpPr>
        <p:spPr>
          <a:xfrm>
            <a:off x="488353" y="830599"/>
            <a:ext cx="10558800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46B1E1"/>
                </a:solidFill>
              </a:rPr>
              <a:t>Data </a:t>
            </a:r>
            <a:r>
              <a:rPr lang="de-DE" dirty="0" err="1">
                <a:solidFill>
                  <a:srgbClr val="46B1E1"/>
                </a:solidFill>
              </a:rPr>
              <a:t>set</a:t>
            </a:r>
            <a:r>
              <a:rPr lang="de-DE" dirty="0">
                <a:solidFill>
                  <a:srgbClr val="46B1E1"/>
                </a:solidFill>
              </a:rPr>
              <a:t> &amp; </a:t>
            </a:r>
            <a:r>
              <a:rPr lang="de-DE" dirty="0" err="1">
                <a:solidFill>
                  <a:srgbClr val="46B1E1"/>
                </a:solidFill>
              </a:rPr>
              <a:t>analysis</a:t>
            </a:r>
            <a:endParaRPr lang="de-DE" dirty="0">
              <a:solidFill>
                <a:srgbClr val="46B1E1"/>
              </a:solidFill>
            </a:endParaRP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1620D846-5C8D-2F7D-0046-B2D29B52E5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4080"/>
          <a:stretch/>
        </p:blipFill>
        <p:spPr>
          <a:xfrm>
            <a:off x="1101466" y="1566015"/>
            <a:ext cx="3544404" cy="2596722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08ACB55C-438A-3049-882A-449683F27CE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62" b="40412"/>
          <a:stretch/>
        </p:blipFill>
        <p:spPr>
          <a:xfrm>
            <a:off x="5084106" y="1400935"/>
            <a:ext cx="6204247" cy="3645381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3CE63C71-D47F-97B6-C97F-899E937EF70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79529" y="4162737"/>
            <a:ext cx="2448915" cy="705135"/>
          </a:xfrm>
          <a:prstGeom prst="rect">
            <a:avLst/>
          </a:prstGeom>
        </p:spPr>
      </p:pic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BEDBB49F-F24A-9C3A-0583-7DB9BCD357EC}"/>
              </a:ext>
            </a:extLst>
          </p:cNvPr>
          <p:cNvCxnSpPr/>
          <p:nvPr/>
        </p:nvCxnSpPr>
        <p:spPr>
          <a:xfrm>
            <a:off x="5084106" y="1507937"/>
            <a:ext cx="0" cy="3674692"/>
          </a:xfrm>
          <a:prstGeom prst="line">
            <a:avLst/>
          </a:prstGeom>
          <a:ln w="28575">
            <a:solidFill>
              <a:srgbClr val="46B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feld 10">
            <a:extLst>
              <a:ext uri="{FF2B5EF4-FFF2-40B4-BE49-F238E27FC236}">
                <a16:creationId xmlns:a16="http://schemas.microsoft.com/office/drawing/2014/main" id="{2B9C258C-57C0-D057-80E0-C471EE101708}"/>
              </a:ext>
            </a:extLst>
          </p:cNvPr>
          <p:cNvSpPr txBox="1"/>
          <p:nvPr/>
        </p:nvSpPr>
        <p:spPr>
          <a:xfrm>
            <a:off x="0" y="5633892"/>
            <a:ext cx="12192000" cy="279131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Highly unevenly distributed data, increase of fraud with higher income</a:t>
            </a:r>
          </a:p>
        </p:txBody>
      </p:sp>
    </p:spTree>
    <p:extLst>
      <p:ext uri="{BB962C8B-B14F-4D97-AF65-F5344CB8AC3E}">
        <p14:creationId xmlns:p14="http://schemas.microsoft.com/office/powerpoint/2010/main" val="28094502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C09503-3494-DA4C-3929-C9B9C7BF87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6">
            <a:extLst>
              <a:ext uri="{FF2B5EF4-FFF2-40B4-BE49-F238E27FC236}">
                <a16:creationId xmlns:a16="http://schemas.microsoft.com/office/drawing/2014/main" id="{04C6C052-66E5-603A-9153-6F573F4F2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53" y="427001"/>
            <a:ext cx="10800000" cy="360000"/>
          </a:xfrm>
        </p:spPr>
        <p:txBody>
          <a:bodyPr>
            <a:normAutofit fontScale="90000"/>
          </a:bodyPr>
          <a:lstStyle/>
          <a:p>
            <a:r>
              <a:rPr lang="de-DE" dirty="0"/>
              <a:t>Data Science </a:t>
            </a:r>
            <a:r>
              <a:rPr lang="de-DE" dirty="0" err="1"/>
              <a:t>Advanced</a:t>
            </a:r>
            <a:r>
              <a:rPr lang="de-DE" dirty="0"/>
              <a:t> – Bank Fraud</a:t>
            </a:r>
          </a:p>
        </p:txBody>
      </p:sp>
      <p:sp>
        <p:nvSpPr>
          <p:cNvPr id="6" name="Fußzeilenplatzhalter 1">
            <a:extLst>
              <a:ext uri="{FF2B5EF4-FFF2-40B4-BE49-F238E27FC236}">
                <a16:creationId xmlns:a16="http://schemas.microsoft.com/office/drawing/2014/main" id="{1401F29D-07DA-FEFE-C07E-FEB4F9AC849C}"/>
              </a:ext>
            </a:extLst>
          </p:cNvPr>
          <p:cNvSpPr txBox="1">
            <a:spLocks/>
          </p:cNvSpPr>
          <p:nvPr/>
        </p:nvSpPr>
        <p:spPr>
          <a:xfrm>
            <a:off x="516470" y="6465924"/>
            <a:ext cx="1152312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0" noProof="1"/>
              <a:t>Marc-Vincent Müller | </a:t>
            </a:r>
            <a:r>
              <a:rPr lang="de-DE" sz="1000" kern="0" dirty="0"/>
              <a:t>Data Science </a:t>
            </a:r>
            <a:r>
              <a:rPr lang="de-DE" sz="1000" kern="0" dirty="0" err="1"/>
              <a:t>Advanced</a:t>
            </a:r>
            <a:r>
              <a:rPr lang="de-DE" sz="1000" kern="0" dirty="0"/>
              <a:t> - Bank Fraud Classification Project</a:t>
            </a:r>
            <a:r>
              <a:rPr lang="en-US" sz="1000" kern="0" noProof="1"/>
              <a:t> | 12.12.2025							</a:t>
            </a:r>
            <a:fld id="{84657114-EDC7-41E0-9FB3-EE17A95DA6E7}" type="slidenum">
              <a:rPr lang="de-DE" sz="1200" smtClean="0">
                <a:cs typeface="Times New Roman" panose="02020603050405020304" pitchFamily="18" charset="0"/>
              </a:rPr>
              <a:t>3</a:t>
            </a:fld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										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4413A7A1-BECC-918C-6265-45362E093C3A}"/>
              </a:ext>
            </a:extLst>
          </p:cNvPr>
          <p:cNvCxnSpPr>
            <a:cxnSpLocks/>
          </p:cNvCxnSpPr>
          <p:nvPr/>
        </p:nvCxnSpPr>
        <p:spPr>
          <a:xfrm flipH="1">
            <a:off x="441553" y="1217522"/>
            <a:ext cx="11304000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el 1">
            <a:extLst>
              <a:ext uri="{FF2B5EF4-FFF2-40B4-BE49-F238E27FC236}">
                <a16:creationId xmlns:a16="http://schemas.microsoft.com/office/drawing/2014/main" id="{FA4B1758-F730-C16F-7332-24642E007A73}"/>
              </a:ext>
            </a:extLst>
          </p:cNvPr>
          <p:cNvSpPr txBox="1">
            <a:spLocks/>
          </p:cNvSpPr>
          <p:nvPr/>
        </p:nvSpPr>
        <p:spPr>
          <a:xfrm>
            <a:off x="488353" y="830599"/>
            <a:ext cx="10558800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 err="1">
                <a:solidFill>
                  <a:srgbClr val="46B1E1"/>
                </a:solidFill>
              </a:rPr>
              <a:t>Steps</a:t>
            </a:r>
            <a:endParaRPr lang="de-DE" dirty="0">
              <a:solidFill>
                <a:srgbClr val="46B1E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6AB6210B-E4A0-AC58-EF25-033E9E18273F}"/>
              </a:ext>
            </a:extLst>
          </p:cNvPr>
          <p:cNvSpPr txBox="1"/>
          <p:nvPr/>
        </p:nvSpPr>
        <p:spPr>
          <a:xfrm>
            <a:off x="0" y="5633892"/>
            <a:ext cx="12192000" cy="279131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First optimization on ROC-AUC score, then threshold adjustment on at least 75 % Recall</a:t>
            </a:r>
          </a:p>
        </p:txBody>
      </p:sp>
      <p:sp>
        <p:nvSpPr>
          <p:cNvPr id="2" name="Textfeld 1">
            <a:extLst>
              <a:ext uri="{FF2B5EF4-FFF2-40B4-BE49-F238E27FC236}">
                <a16:creationId xmlns:a16="http://schemas.microsoft.com/office/drawing/2014/main" id="{EED3C86D-BE73-DA16-3182-E12BEB57425F}"/>
              </a:ext>
            </a:extLst>
          </p:cNvPr>
          <p:cNvSpPr txBox="1"/>
          <p:nvPr/>
        </p:nvSpPr>
        <p:spPr>
          <a:xfrm>
            <a:off x="976874" y="1604446"/>
            <a:ext cx="4812315" cy="4173694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>
                <a:solidFill>
                  <a:srgbClr val="000000"/>
                </a:solidFill>
              </a:rPr>
              <a:t>Drop x1 and x2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Search </a:t>
            </a:r>
            <a:r>
              <a:rPr lang="de-DE" kern="0" dirty="0" err="1">
                <a:solidFill>
                  <a:srgbClr val="000000"/>
                </a:solidFill>
              </a:rPr>
              <a:t>missing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values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kumimoji="0" lang="de-DE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</a:rPr>
              <a:t>Drop c</a:t>
            </a:r>
            <a:r>
              <a:rPr lang="de-DE" kern="0" dirty="0" err="1">
                <a:solidFill>
                  <a:srgbClr val="000000"/>
                </a:solidFill>
              </a:rPr>
              <a:t>olumns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or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refill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values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with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imputation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 err="1">
                <a:solidFill>
                  <a:srgbClr val="000000"/>
                </a:solidFill>
              </a:rPr>
              <a:t>One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hot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encoding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of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categorial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features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 err="1">
                <a:solidFill>
                  <a:srgbClr val="000000"/>
                </a:solidFill>
              </a:rPr>
              <a:t>Scaling</a:t>
            </a:r>
            <a:r>
              <a:rPr lang="de-DE" kern="0" dirty="0">
                <a:solidFill>
                  <a:srgbClr val="000000"/>
                </a:solidFill>
              </a:rPr>
              <a:t> all </a:t>
            </a:r>
            <a:r>
              <a:rPr lang="de-DE" kern="0" dirty="0" err="1">
                <a:solidFill>
                  <a:srgbClr val="000000"/>
                </a:solidFill>
              </a:rPr>
              <a:t>features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>
                <a:solidFill>
                  <a:srgbClr val="000000"/>
                </a:solidFill>
              </a:rPr>
              <a:t>Feature </a:t>
            </a:r>
            <a:r>
              <a:rPr lang="de-DE" kern="0" dirty="0" err="1">
                <a:solidFill>
                  <a:srgbClr val="000000"/>
                </a:solidFill>
              </a:rPr>
              <a:t>selection</a:t>
            </a:r>
            <a:r>
              <a:rPr lang="de-DE" kern="0" dirty="0">
                <a:solidFill>
                  <a:srgbClr val="000000"/>
                </a:solidFill>
              </a:rPr>
              <a:t> (</a:t>
            </a:r>
            <a:r>
              <a:rPr lang="de-DE" kern="0" dirty="0" err="1">
                <a:solidFill>
                  <a:srgbClr val="000000"/>
                </a:solidFill>
              </a:rPr>
              <a:t>only</a:t>
            </a:r>
            <a:r>
              <a:rPr lang="de-DE" kern="0" dirty="0">
                <a:solidFill>
                  <a:srgbClr val="000000"/>
                </a:solidFill>
              </a:rPr>
              <a:t> log </a:t>
            </a:r>
            <a:r>
              <a:rPr lang="de-DE" kern="0" dirty="0" err="1">
                <a:solidFill>
                  <a:srgbClr val="000000"/>
                </a:solidFill>
              </a:rPr>
              <a:t>regression</a:t>
            </a:r>
            <a:r>
              <a:rPr lang="de-DE" kern="0" dirty="0">
                <a:solidFill>
                  <a:srgbClr val="000000"/>
                </a:solidFill>
              </a:rPr>
              <a:t>)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 err="1">
                <a:solidFill>
                  <a:srgbClr val="000000"/>
                </a:solidFill>
              </a:rPr>
              <a:t>Define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models</a:t>
            </a: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de-DE" kern="0" dirty="0">
                <a:solidFill>
                  <a:srgbClr val="000000"/>
                </a:solidFill>
              </a:rPr>
              <a:t>Data </a:t>
            </a:r>
            <a:r>
              <a:rPr lang="de-DE" kern="0" dirty="0" err="1">
                <a:solidFill>
                  <a:srgbClr val="000000"/>
                </a:solidFill>
              </a:rPr>
              <a:t>reduction</a:t>
            </a:r>
            <a:r>
              <a:rPr lang="de-DE" kern="0" dirty="0">
                <a:solidFill>
                  <a:srgbClr val="000000"/>
                </a:solidFill>
              </a:rPr>
              <a:t> </a:t>
            </a:r>
            <a:r>
              <a:rPr lang="de-DE" kern="0" dirty="0" err="1">
                <a:solidFill>
                  <a:srgbClr val="000000"/>
                </a:solidFill>
              </a:rPr>
              <a:t>to</a:t>
            </a:r>
            <a:r>
              <a:rPr lang="de-DE" kern="0" dirty="0">
                <a:solidFill>
                  <a:srgbClr val="000000"/>
                </a:solidFill>
              </a:rPr>
              <a:t> 10 % and </a:t>
            </a:r>
            <a:r>
              <a:rPr lang="de-DE" kern="0" dirty="0" err="1">
                <a:solidFill>
                  <a:srgbClr val="000000"/>
                </a:solidFill>
              </a:rPr>
              <a:t>train</a:t>
            </a:r>
            <a:r>
              <a:rPr lang="de-DE" kern="0" dirty="0">
                <a:solidFill>
                  <a:srgbClr val="000000"/>
                </a:solidFill>
              </a:rPr>
              <a:t>-test-split</a:t>
            </a: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lang="de-DE" kern="0" dirty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endParaRPr kumimoji="0" lang="de-DE" sz="18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011BD633-1DAD-B24C-8609-BE6D71854014}"/>
              </a:ext>
            </a:extLst>
          </p:cNvPr>
          <p:cNvSpPr txBox="1"/>
          <p:nvPr/>
        </p:nvSpPr>
        <p:spPr>
          <a:xfrm>
            <a:off x="6112129" y="1604446"/>
            <a:ext cx="4812315" cy="4071145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err="1">
                <a:solidFill>
                  <a:srgbClr val="000000"/>
                </a:solidFill>
              </a:rPr>
              <a:t>Gridsearch</a:t>
            </a:r>
            <a:r>
              <a:rPr lang="de-DE" kern="0">
                <a:solidFill>
                  <a:srgbClr val="000000"/>
                </a:solidFill>
              </a:rPr>
              <a:t> (</a:t>
            </a:r>
            <a:r>
              <a:rPr lang="de-DE" kern="0" err="1">
                <a:solidFill>
                  <a:srgbClr val="000000"/>
                </a:solidFill>
              </a:rPr>
              <a:t>only</a:t>
            </a:r>
            <a:r>
              <a:rPr lang="de-DE" kern="0">
                <a:solidFill>
                  <a:srgbClr val="000000"/>
                </a:solidFill>
              </a:rPr>
              <a:t> log </a:t>
            </a:r>
            <a:r>
              <a:rPr lang="de-DE" kern="0" err="1">
                <a:solidFill>
                  <a:srgbClr val="000000"/>
                </a:solidFill>
              </a:rPr>
              <a:t>regression</a:t>
            </a:r>
            <a:r>
              <a:rPr lang="de-DE" kern="0">
                <a:solidFill>
                  <a:srgbClr val="000000"/>
                </a:solidFill>
              </a:rPr>
              <a:t> and </a:t>
            </a:r>
            <a:r>
              <a:rPr lang="de-DE" kern="0" err="1">
                <a:solidFill>
                  <a:srgbClr val="000000"/>
                </a:solidFill>
              </a:rPr>
              <a:t>decision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trees</a:t>
            </a:r>
            <a:r>
              <a:rPr lang="de-DE" kern="0">
                <a:solidFill>
                  <a:srgbClr val="000000"/>
                </a:solidFill>
              </a:rPr>
              <a:t>) 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 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Optimization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 Score:</a:t>
            </a:r>
            <a:b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</a:b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ROC-AUC</a:t>
            </a:r>
            <a:endParaRPr lang="de-DE" kern="0">
              <a:solidFill>
                <a:srgbClr val="000000"/>
              </a:solidFill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>
                <a:solidFill>
                  <a:srgbClr val="000000"/>
                </a:solidFill>
              </a:rPr>
              <a:t>Fit </a:t>
            </a:r>
            <a:r>
              <a:rPr lang="de-DE" kern="0" err="1">
                <a:solidFill>
                  <a:srgbClr val="000000"/>
                </a:solidFill>
              </a:rPr>
              <a:t>best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model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with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best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hyperparameters</a:t>
            </a:r>
            <a:r>
              <a:rPr lang="de-DE" kern="0">
                <a:solidFill>
                  <a:srgbClr val="000000"/>
                </a:solidFill>
              </a:rPr>
              <a:t> on all </a:t>
            </a:r>
            <a:r>
              <a:rPr lang="de-DE" kern="0" err="1">
                <a:solidFill>
                  <a:srgbClr val="000000"/>
                </a:solidFill>
              </a:rPr>
              <a:t>train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data</a:t>
            </a:r>
            <a:endParaRPr lang="de-DE" kern="0">
              <a:solidFill>
                <a:srgbClr val="000000"/>
              </a:solidFill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>
                <a:solidFill>
                  <a:srgbClr val="000000"/>
                </a:solidFill>
              </a:rPr>
              <a:t>Model </a:t>
            </a:r>
            <a:r>
              <a:rPr lang="de-DE" kern="0" err="1">
                <a:solidFill>
                  <a:srgbClr val="000000"/>
                </a:solidFill>
              </a:rPr>
              <a:t>evaluation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 Precision-Recall-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Curve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: Threshold 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optimization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 on at least 75 % Recall on 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test</a:t>
            </a:r>
            <a:r>
              <a:rPr lang="de-DE" kern="0">
                <a:solidFill>
                  <a:srgbClr val="000000"/>
                </a:solidFill>
                <a:sym typeface="Wingdings" panose="05000000000000000000" pitchFamily="2" charset="2"/>
              </a:rPr>
              <a:t> </a:t>
            </a:r>
            <a:r>
              <a:rPr lang="de-DE" kern="0" err="1">
                <a:solidFill>
                  <a:srgbClr val="000000"/>
                </a:solidFill>
                <a:sym typeface="Wingdings" panose="05000000000000000000" pitchFamily="2" charset="2"/>
              </a:rPr>
              <a:t>data</a:t>
            </a:r>
            <a:endParaRPr lang="de-DE" kern="0">
              <a:solidFill>
                <a:srgbClr val="000000"/>
              </a:solidFill>
              <a:sym typeface="Wingdings" panose="05000000000000000000" pitchFamily="2" charset="2"/>
            </a:endParaRP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err="1">
                <a:solidFill>
                  <a:srgbClr val="000000"/>
                </a:solidFill>
              </a:rPr>
              <a:t>Visualisation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with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Confusion</a:t>
            </a:r>
            <a:r>
              <a:rPr lang="de-DE" kern="0">
                <a:solidFill>
                  <a:srgbClr val="000000"/>
                </a:solidFill>
              </a:rPr>
              <a:t> Matrix</a:t>
            </a:r>
          </a:p>
          <a:p>
            <a:pPr marL="342900" indent="-342900" fontAlgn="auto">
              <a:spcBef>
                <a:spcPts val="500"/>
              </a:spcBef>
              <a:spcAft>
                <a:spcPts val="0"/>
              </a:spcAft>
              <a:buFont typeface="+mj-lt"/>
              <a:buAutoNum type="arabicPeriod" startAt="9"/>
            </a:pPr>
            <a:r>
              <a:rPr lang="de-DE" kern="0" err="1">
                <a:solidFill>
                  <a:srgbClr val="000000"/>
                </a:solidFill>
              </a:rPr>
              <a:t>Comparison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of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results</a:t>
            </a:r>
            <a:r>
              <a:rPr lang="de-DE" kern="0">
                <a:solidFill>
                  <a:srgbClr val="000000"/>
                </a:solidFill>
              </a:rPr>
              <a:t> on </a:t>
            </a:r>
            <a:r>
              <a:rPr lang="de-DE" kern="0" err="1">
                <a:solidFill>
                  <a:srgbClr val="000000"/>
                </a:solidFill>
              </a:rPr>
              <a:t>train</a:t>
            </a:r>
            <a:r>
              <a:rPr lang="de-DE" kern="0">
                <a:solidFill>
                  <a:srgbClr val="000000"/>
                </a:solidFill>
              </a:rPr>
              <a:t> and </a:t>
            </a:r>
            <a:r>
              <a:rPr lang="de-DE" kern="0" err="1">
                <a:solidFill>
                  <a:srgbClr val="000000"/>
                </a:solidFill>
              </a:rPr>
              <a:t>test</a:t>
            </a:r>
            <a:r>
              <a:rPr lang="de-DE" kern="0">
                <a:solidFill>
                  <a:srgbClr val="000000"/>
                </a:solidFill>
              </a:rPr>
              <a:t> </a:t>
            </a:r>
            <a:r>
              <a:rPr lang="de-DE" kern="0" err="1">
                <a:solidFill>
                  <a:srgbClr val="000000"/>
                </a:solidFill>
              </a:rPr>
              <a:t>data</a:t>
            </a: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 startAt="9"/>
              <a:tabLst/>
            </a:pPr>
            <a:endParaRPr lang="de-DE" kern="0">
              <a:solidFill>
                <a:srgbClr val="000000"/>
              </a:solidFill>
            </a:endParaRPr>
          </a:p>
          <a:p>
            <a:pPr marL="342900" marR="0" indent="-342900" algn="l" defTabSz="914400" eaLnBrk="1" fontAlgn="auto" latinLnBrk="0" hangingPunct="1">
              <a:spcBef>
                <a:spcPts val="500"/>
              </a:spcBef>
              <a:spcAft>
                <a:spcPts val="0"/>
              </a:spcAft>
              <a:buClrTx/>
              <a:buSzTx/>
              <a:buFontTx/>
              <a:buAutoNum type="arabicPeriod" startAt="9"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</p:spTree>
    <p:extLst>
      <p:ext uri="{BB962C8B-B14F-4D97-AF65-F5344CB8AC3E}">
        <p14:creationId xmlns:p14="http://schemas.microsoft.com/office/powerpoint/2010/main" val="4247638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81309D-5887-E2F7-003A-FEE6120B5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6">
            <a:extLst>
              <a:ext uri="{FF2B5EF4-FFF2-40B4-BE49-F238E27FC236}">
                <a16:creationId xmlns:a16="http://schemas.microsoft.com/office/drawing/2014/main" id="{9DFD6B72-3274-6209-ACA8-ACC7ACCCF8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53" y="427001"/>
            <a:ext cx="10800000" cy="360000"/>
          </a:xfrm>
        </p:spPr>
        <p:txBody>
          <a:bodyPr>
            <a:normAutofit fontScale="90000"/>
          </a:bodyPr>
          <a:lstStyle/>
          <a:p>
            <a:r>
              <a:rPr lang="de-DE" dirty="0"/>
              <a:t>Data Science </a:t>
            </a:r>
            <a:r>
              <a:rPr lang="de-DE" dirty="0" err="1"/>
              <a:t>Advanced</a:t>
            </a:r>
            <a:r>
              <a:rPr lang="de-DE" dirty="0"/>
              <a:t> – Bank Fraud</a:t>
            </a:r>
          </a:p>
        </p:txBody>
      </p:sp>
      <p:sp>
        <p:nvSpPr>
          <p:cNvPr id="6" name="Fußzeilenplatzhalter 1">
            <a:extLst>
              <a:ext uri="{FF2B5EF4-FFF2-40B4-BE49-F238E27FC236}">
                <a16:creationId xmlns:a16="http://schemas.microsoft.com/office/drawing/2014/main" id="{AB8D56AD-C018-2B7C-169A-290947E73943}"/>
              </a:ext>
            </a:extLst>
          </p:cNvPr>
          <p:cNvSpPr txBox="1">
            <a:spLocks/>
          </p:cNvSpPr>
          <p:nvPr/>
        </p:nvSpPr>
        <p:spPr>
          <a:xfrm>
            <a:off x="516470" y="6465924"/>
            <a:ext cx="1152312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0" noProof="1"/>
              <a:t>Marc-Vincent Müller | </a:t>
            </a:r>
            <a:r>
              <a:rPr lang="de-DE" sz="1000" kern="0" dirty="0"/>
              <a:t>Data Science </a:t>
            </a:r>
            <a:r>
              <a:rPr lang="de-DE" sz="1000" kern="0" dirty="0" err="1"/>
              <a:t>Advanced</a:t>
            </a:r>
            <a:r>
              <a:rPr lang="de-DE" sz="1000" kern="0" dirty="0"/>
              <a:t> - Bank Fraud Classification Project</a:t>
            </a:r>
            <a:r>
              <a:rPr lang="en-US" sz="1000" kern="0" noProof="1"/>
              <a:t> | 12.12.2025							</a:t>
            </a:r>
            <a:fld id="{84657114-EDC7-41E0-9FB3-EE17A95DA6E7}" type="slidenum">
              <a:rPr lang="de-DE" sz="1200" smtClean="0">
                <a:cs typeface="Times New Roman" panose="02020603050405020304" pitchFamily="18" charset="0"/>
              </a:rPr>
              <a:t>4</a:t>
            </a:fld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										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9B202F9D-A1DE-321F-8C51-B7CC609A8A83}"/>
              </a:ext>
            </a:extLst>
          </p:cNvPr>
          <p:cNvCxnSpPr>
            <a:cxnSpLocks/>
          </p:cNvCxnSpPr>
          <p:nvPr/>
        </p:nvCxnSpPr>
        <p:spPr>
          <a:xfrm flipH="1">
            <a:off x="441553" y="1217522"/>
            <a:ext cx="11304000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el 1">
            <a:extLst>
              <a:ext uri="{FF2B5EF4-FFF2-40B4-BE49-F238E27FC236}">
                <a16:creationId xmlns:a16="http://schemas.microsoft.com/office/drawing/2014/main" id="{C00993DB-DEBE-54DF-2B8A-D19E6B80181F}"/>
              </a:ext>
            </a:extLst>
          </p:cNvPr>
          <p:cNvSpPr txBox="1">
            <a:spLocks/>
          </p:cNvSpPr>
          <p:nvPr/>
        </p:nvSpPr>
        <p:spPr>
          <a:xfrm>
            <a:off x="488353" y="830599"/>
            <a:ext cx="10558800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46B1E1"/>
                </a:solidFill>
              </a:rPr>
              <a:t>Model – </a:t>
            </a:r>
            <a:r>
              <a:rPr lang="de-DE" dirty="0" err="1">
                <a:solidFill>
                  <a:srgbClr val="46B1E1"/>
                </a:solidFill>
              </a:rPr>
              <a:t>Logistic</a:t>
            </a:r>
            <a:r>
              <a:rPr lang="de-DE" dirty="0">
                <a:solidFill>
                  <a:srgbClr val="46B1E1"/>
                </a:solidFill>
              </a:rPr>
              <a:t> Regression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DAEBBB3-5B80-5303-BAC6-23EADAB8864F}"/>
              </a:ext>
            </a:extLst>
          </p:cNvPr>
          <p:cNvSpPr txBox="1"/>
          <p:nvPr/>
        </p:nvSpPr>
        <p:spPr>
          <a:xfrm>
            <a:off x="0" y="5633892"/>
            <a:ext cx="12192000" cy="279131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Without SMOTE, ridge regression, class weight: None, C: 3</a:t>
            </a:r>
          </a:p>
        </p:txBody>
      </p:sp>
      <p:pic>
        <p:nvPicPr>
          <p:cNvPr id="7" name="Grafik 6">
            <a:extLst>
              <a:ext uri="{FF2B5EF4-FFF2-40B4-BE49-F238E27FC236}">
                <a16:creationId xmlns:a16="http://schemas.microsoft.com/office/drawing/2014/main" id="{AA448873-CBBF-2CA0-65F2-19D812FD6F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7623" y="1744075"/>
            <a:ext cx="4301709" cy="2886219"/>
          </a:xfrm>
          <a:prstGeom prst="rect">
            <a:avLst/>
          </a:prstGeom>
        </p:spPr>
      </p:pic>
      <p:pic>
        <p:nvPicPr>
          <p:cNvPr id="8" name="Grafik 7">
            <a:extLst>
              <a:ext uri="{FF2B5EF4-FFF2-40B4-BE49-F238E27FC236}">
                <a16:creationId xmlns:a16="http://schemas.microsoft.com/office/drawing/2014/main" id="{1CFAAFDE-E39B-F53E-A44B-D34F0C670F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1768" y="4684717"/>
            <a:ext cx="3030175" cy="362096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59024736-F626-4F2D-01D1-D494BE924A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44858" y="1447813"/>
            <a:ext cx="6043495" cy="2500170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4E49C2FA-D9DE-6AE2-5C3A-0B5F05C5E7A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447429" y="3964206"/>
            <a:ext cx="2629237" cy="1237288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9E234626-5F0E-8C40-F758-C94E08BE1E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87717" y="3964206"/>
            <a:ext cx="2656916" cy="1218365"/>
          </a:xfrm>
          <a:prstGeom prst="rect">
            <a:avLst/>
          </a:prstGeom>
        </p:spPr>
      </p:pic>
      <p:cxnSp>
        <p:nvCxnSpPr>
          <p:cNvPr id="13" name="Gerader Verbinder 12">
            <a:extLst>
              <a:ext uri="{FF2B5EF4-FFF2-40B4-BE49-F238E27FC236}">
                <a16:creationId xmlns:a16="http://schemas.microsoft.com/office/drawing/2014/main" id="{92123198-C7BC-1FF0-BA5B-2115193270EA}"/>
              </a:ext>
            </a:extLst>
          </p:cNvPr>
          <p:cNvCxnSpPr/>
          <p:nvPr/>
        </p:nvCxnSpPr>
        <p:spPr>
          <a:xfrm>
            <a:off x="5150429" y="1566435"/>
            <a:ext cx="0" cy="3674692"/>
          </a:xfrm>
          <a:prstGeom prst="line">
            <a:avLst/>
          </a:prstGeom>
          <a:ln w="28575">
            <a:solidFill>
              <a:srgbClr val="46B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hteck 13">
            <a:extLst>
              <a:ext uri="{FF2B5EF4-FFF2-40B4-BE49-F238E27FC236}">
                <a16:creationId xmlns:a16="http://schemas.microsoft.com/office/drawing/2014/main" id="{5C54EA61-3329-4FE1-B0BA-EE55F63533C7}"/>
              </a:ext>
            </a:extLst>
          </p:cNvPr>
          <p:cNvSpPr/>
          <p:nvPr/>
        </p:nvSpPr>
        <p:spPr>
          <a:xfrm>
            <a:off x="5836222" y="4557984"/>
            <a:ext cx="5355413" cy="144620"/>
          </a:xfrm>
          <a:prstGeom prst="rect">
            <a:avLst/>
          </a:prstGeom>
          <a:noFill/>
          <a:ln w="19050" cap="flat" cmpd="sng" algn="ctr">
            <a:solidFill>
              <a:srgbClr val="46B1E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94400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59E184-6456-8230-6D4F-27843569F4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6">
            <a:extLst>
              <a:ext uri="{FF2B5EF4-FFF2-40B4-BE49-F238E27FC236}">
                <a16:creationId xmlns:a16="http://schemas.microsoft.com/office/drawing/2014/main" id="{8A39EE56-02F4-5606-0B18-CE3FD6C1C9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53" y="427001"/>
            <a:ext cx="10800000" cy="360000"/>
          </a:xfrm>
        </p:spPr>
        <p:txBody>
          <a:bodyPr>
            <a:normAutofit fontScale="90000"/>
          </a:bodyPr>
          <a:lstStyle/>
          <a:p>
            <a:r>
              <a:rPr lang="de-DE" dirty="0"/>
              <a:t>Data Science </a:t>
            </a:r>
            <a:r>
              <a:rPr lang="de-DE" dirty="0" err="1"/>
              <a:t>Advanced</a:t>
            </a:r>
            <a:r>
              <a:rPr lang="de-DE" dirty="0"/>
              <a:t> – Bank Fraud</a:t>
            </a:r>
          </a:p>
        </p:txBody>
      </p:sp>
      <p:sp>
        <p:nvSpPr>
          <p:cNvPr id="6" name="Fußzeilenplatzhalter 1">
            <a:extLst>
              <a:ext uri="{FF2B5EF4-FFF2-40B4-BE49-F238E27FC236}">
                <a16:creationId xmlns:a16="http://schemas.microsoft.com/office/drawing/2014/main" id="{42A85721-6FFE-D206-2971-1B50C67B4F8A}"/>
              </a:ext>
            </a:extLst>
          </p:cNvPr>
          <p:cNvSpPr txBox="1">
            <a:spLocks/>
          </p:cNvSpPr>
          <p:nvPr/>
        </p:nvSpPr>
        <p:spPr>
          <a:xfrm>
            <a:off x="516470" y="6465924"/>
            <a:ext cx="1152312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0" noProof="1"/>
              <a:t>Marc-Vincent Müller | </a:t>
            </a:r>
            <a:r>
              <a:rPr lang="de-DE" sz="1000" kern="0" dirty="0"/>
              <a:t>Data Science </a:t>
            </a:r>
            <a:r>
              <a:rPr lang="de-DE" sz="1000" kern="0" dirty="0" err="1"/>
              <a:t>Advanced</a:t>
            </a:r>
            <a:r>
              <a:rPr lang="de-DE" sz="1000" kern="0" dirty="0"/>
              <a:t> - Bank Fraud Classification Project</a:t>
            </a:r>
            <a:r>
              <a:rPr lang="en-US" sz="1000" kern="0" noProof="1"/>
              <a:t> | 12.12.2025							</a:t>
            </a:r>
            <a:fld id="{84657114-EDC7-41E0-9FB3-EE17A95DA6E7}" type="slidenum">
              <a:rPr lang="de-DE" sz="1200" smtClean="0">
                <a:cs typeface="Times New Roman" panose="02020603050405020304" pitchFamily="18" charset="0"/>
              </a:rPr>
              <a:t>5</a:t>
            </a:fld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										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0F3390EF-B5AD-0191-B441-310A6ADD5260}"/>
              </a:ext>
            </a:extLst>
          </p:cNvPr>
          <p:cNvCxnSpPr>
            <a:cxnSpLocks/>
          </p:cNvCxnSpPr>
          <p:nvPr/>
        </p:nvCxnSpPr>
        <p:spPr>
          <a:xfrm flipH="1">
            <a:off x="441553" y="1217522"/>
            <a:ext cx="11304000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el 1">
            <a:extLst>
              <a:ext uri="{FF2B5EF4-FFF2-40B4-BE49-F238E27FC236}">
                <a16:creationId xmlns:a16="http://schemas.microsoft.com/office/drawing/2014/main" id="{A001CB04-5D33-893F-C0BB-D1087B2997C4}"/>
              </a:ext>
            </a:extLst>
          </p:cNvPr>
          <p:cNvSpPr txBox="1">
            <a:spLocks/>
          </p:cNvSpPr>
          <p:nvPr/>
        </p:nvSpPr>
        <p:spPr>
          <a:xfrm>
            <a:off x="488353" y="830599"/>
            <a:ext cx="10558800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46B1E1"/>
                </a:solidFill>
              </a:rPr>
              <a:t>Model – </a:t>
            </a:r>
            <a:r>
              <a:rPr lang="de-DE" dirty="0" err="1">
                <a:solidFill>
                  <a:srgbClr val="46B1E1"/>
                </a:solidFill>
              </a:rPr>
              <a:t>Decision</a:t>
            </a:r>
            <a:r>
              <a:rPr lang="de-DE" dirty="0">
                <a:solidFill>
                  <a:srgbClr val="46B1E1"/>
                </a:solidFill>
              </a:rPr>
              <a:t> </a:t>
            </a:r>
            <a:r>
              <a:rPr lang="de-DE" dirty="0" err="1">
                <a:solidFill>
                  <a:srgbClr val="46B1E1"/>
                </a:solidFill>
              </a:rPr>
              <a:t>Tree</a:t>
            </a:r>
            <a:endParaRPr lang="de-DE" dirty="0">
              <a:solidFill>
                <a:srgbClr val="46B1E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781E58C9-B511-969F-0B05-5A75DDC39A63}"/>
              </a:ext>
            </a:extLst>
          </p:cNvPr>
          <p:cNvSpPr txBox="1"/>
          <p:nvPr/>
        </p:nvSpPr>
        <p:spPr>
          <a:xfrm>
            <a:off x="0" y="5633892"/>
            <a:ext cx="12192000" cy="279131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Best tree: </a:t>
            </a:r>
            <a:r>
              <a:rPr lang="en-AU" dirty="0" err="1">
                <a:solidFill>
                  <a:schemeClr val="bg1"/>
                </a:solidFill>
              </a:rPr>
              <a:t>LightGBM</a:t>
            </a:r>
            <a:r>
              <a:rPr lang="en-AU" dirty="0">
                <a:solidFill>
                  <a:schemeClr val="bg1"/>
                </a:solidFill>
              </a:rPr>
              <a:t>, max depth: 3, n estimators: 300, num leaves: 3, scale pos weight: 1, learning rate: 1</a:t>
            </a:r>
          </a:p>
        </p:txBody>
      </p:sp>
      <p:cxnSp>
        <p:nvCxnSpPr>
          <p:cNvPr id="2" name="Gerader Verbinder 1">
            <a:extLst>
              <a:ext uri="{FF2B5EF4-FFF2-40B4-BE49-F238E27FC236}">
                <a16:creationId xmlns:a16="http://schemas.microsoft.com/office/drawing/2014/main" id="{9B781542-FABB-7269-732E-18E09591BA2F}"/>
              </a:ext>
            </a:extLst>
          </p:cNvPr>
          <p:cNvCxnSpPr/>
          <p:nvPr/>
        </p:nvCxnSpPr>
        <p:spPr>
          <a:xfrm>
            <a:off x="5253605" y="1604280"/>
            <a:ext cx="0" cy="3674692"/>
          </a:xfrm>
          <a:prstGeom prst="line">
            <a:avLst/>
          </a:prstGeom>
          <a:ln w="28575">
            <a:solidFill>
              <a:srgbClr val="46B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Grafik 3">
            <a:extLst>
              <a:ext uri="{FF2B5EF4-FFF2-40B4-BE49-F238E27FC236}">
                <a16:creationId xmlns:a16="http://schemas.microsoft.com/office/drawing/2014/main" id="{6E7B156B-DA57-1974-FAFF-A542DC10876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3598" y="1843289"/>
            <a:ext cx="4170812" cy="2813962"/>
          </a:xfrm>
          <a:prstGeom prst="rect">
            <a:avLst/>
          </a:prstGeom>
        </p:spPr>
      </p:pic>
      <p:pic>
        <p:nvPicPr>
          <p:cNvPr id="16" name="Grafik 15">
            <a:extLst>
              <a:ext uri="{FF2B5EF4-FFF2-40B4-BE49-F238E27FC236}">
                <a16:creationId xmlns:a16="http://schemas.microsoft.com/office/drawing/2014/main" id="{408F8522-9F9F-A13F-FF86-69CDB9C86C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1888" y="4657251"/>
            <a:ext cx="2992059" cy="333510"/>
          </a:xfrm>
          <a:prstGeom prst="rect">
            <a:avLst/>
          </a:prstGeom>
        </p:spPr>
      </p:pic>
      <p:pic>
        <p:nvPicPr>
          <p:cNvPr id="17" name="Grafik 16">
            <a:extLst>
              <a:ext uri="{FF2B5EF4-FFF2-40B4-BE49-F238E27FC236}">
                <a16:creationId xmlns:a16="http://schemas.microsoft.com/office/drawing/2014/main" id="{5B48ECC2-CFA4-E5E3-9B26-AFDC1C6F2C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2700" y="1476093"/>
            <a:ext cx="6179383" cy="2551227"/>
          </a:xfrm>
          <a:prstGeom prst="rect">
            <a:avLst/>
          </a:prstGeom>
        </p:spPr>
      </p:pic>
      <p:pic>
        <p:nvPicPr>
          <p:cNvPr id="18" name="Grafik 17">
            <a:extLst>
              <a:ext uri="{FF2B5EF4-FFF2-40B4-BE49-F238E27FC236}">
                <a16:creationId xmlns:a16="http://schemas.microsoft.com/office/drawing/2014/main" id="{1F5FB281-9742-1176-5B8D-588063DCC6C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1037" y="4117560"/>
            <a:ext cx="2706762" cy="1257762"/>
          </a:xfrm>
          <a:prstGeom prst="rect">
            <a:avLst/>
          </a:prstGeom>
        </p:spPr>
      </p:pic>
      <p:pic>
        <p:nvPicPr>
          <p:cNvPr id="19" name="Grafik 18">
            <a:extLst>
              <a:ext uri="{FF2B5EF4-FFF2-40B4-BE49-F238E27FC236}">
                <a16:creationId xmlns:a16="http://schemas.microsoft.com/office/drawing/2014/main" id="{60619BAA-F425-8AE5-5D04-26A18D31C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31728" y="4117559"/>
            <a:ext cx="2702691" cy="1257762"/>
          </a:xfrm>
          <a:prstGeom prst="rect">
            <a:avLst/>
          </a:prstGeom>
        </p:spPr>
      </p:pic>
      <p:sp>
        <p:nvSpPr>
          <p:cNvPr id="20" name="Rechteck 19">
            <a:extLst>
              <a:ext uri="{FF2B5EF4-FFF2-40B4-BE49-F238E27FC236}">
                <a16:creationId xmlns:a16="http://schemas.microsoft.com/office/drawing/2014/main" id="{B650D52B-BF3B-D458-EAF8-30BD13BCCCB0}"/>
              </a:ext>
            </a:extLst>
          </p:cNvPr>
          <p:cNvSpPr/>
          <p:nvPr/>
        </p:nvSpPr>
        <p:spPr>
          <a:xfrm>
            <a:off x="5939398" y="4715473"/>
            <a:ext cx="5355413" cy="144620"/>
          </a:xfrm>
          <a:prstGeom prst="rect">
            <a:avLst/>
          </a:prstGeom>
          <a:noFill/>
          <a:ln w="19050" cap="flat" cmpd="sng" algn="ctr">
            <a:solidFill>
              <a:srgbClr val="46B1E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9570387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ACA051-99A4-FD0D-D73A-F2487DFF7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6">
            <a:extLst>
              <a:ext uri="{FF2B5EF4-FFF2-40B4-BE49-F238E27FC236}">
                <a16:creationId xmlns:a16="http://schemas.microsoft.com/office/drawing/2014/main" id="{7E80AE08-D964-E1D4-B2D1-931A1C02E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53" y="427001"/>
            <a:ext cx="10800000" cy="360000"/>
          </a:xfrm>
        </p:spPr>
        <p:txBody>
          <a:bodyPr>
            <a:normAutofit fontScale="90000"/>
          </a:bodyPr>
          <a:lstStyle/>
          <a:p>
            <a:r>
              <a:rPr lang="de-DE" dirty="0"/>
              <a:t>Data Science </a:t>
            </a:r>
            <a:r>
              <a:rPr lang="de-DE" dirty="0" err="1"/>
              <a:t>Advanced</a:t>
            </a:r>
            <a:r>
              <a:rPr lang="de-DE" dirty="0"/>
              <a:t> – Bank Fraud</a:t>
            </a:r>
          </a:p>
        </p:txBody>
      </p:sp>
      <p:sp>
        <p:nvSpPr>
          <p:cNvPr id="6" name="Fußzeilenplatzhalter 1">
            <a:extLst>
              <a:ext uri="{FF2B5EF4-FFF2-40B4-BE49-F238E27FC236}">
                <a16:creationId xmlns:a16="http://schemas.microsoft.com/office/drawing/2014/main" id="{CFBE02C7-C22D-A602-D1AF-D6DABD190AB0}"/>
              </a:ext>
            </a:extLst>
          </p:cNvPr>
          <p:cNvSpPr txBox="1">
            <a:spLocks/>
          </p:cNvSpPr>
          <p:nvPr/>
        </p:nvSpPr>
        <p:spPr>
          <a:xfrm>
            <a:off x="516470" y="6465924"/>
            <a:ext cx="1152312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0" noProof="1"/>
              <a:t>Marc-Vincent Müller | </a:t>
            </a:r>
            <a:r>
              <a:rPr lang="de-DE" sz="1000" kern="0" dirty="0"/>
              <a:t>Data Science </a:t>
            </a:r>
            <a:r>
              <a:rPr lang="de-DE" sz="1000" kern="0" dirty="0" err="1"/>
              <a:t>Advanced</a:t>
            </a:r>
            <a:r>
              <a:rPr lang="de-DE" sz="1000" kern="0" dirty="0"/>
              <a:t> - Bank Fraud Classification Project</a:t>
            </a:r>
            <a:r>
              <a:rPr lang="en-US" sz="1000" kern="0" noProof="1"/>
              <a:t> | 12.12.2025							</a:t>
            </a:r>
            <a:fld id="{84657114-EDC7-41E0-9FB3-EE17A95DA6E7}" type="slidenum">
              <a:rPr lang="de-DE" sz="1200" smtClean="0">
                <a:cs typeface="Times New Roman" panose="02020603050405020304" pitchFamily="18" charset="0"/>
              </a:rPr>
              <a:t>6</a:t>
            </a:fld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										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27F2742F-5B83-E122-2ABA-E409BA9AABA0}"/>
              </a:ext>
            </a:extLst>
          </p:cNvPr>
          <p:cNvCxnSpPr>
            <a:cxnSpLocks/>
          </p:cNvCxnSpPr>
          <p:nvPr/>
        </p:nvCxnSpPr>
        <p:spPr>
          <a:xfrm flipH="1">
            <a:off x="441553" y="1217522"/>
            <a:ext cx="11304000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el 1">
            <a:extLst>
              <a:ext uri="{FF2B5EF4-FFF2-40B4-BE49-F238E27FC236}">
                <a16:creationId xmlns:a16="http://schemas.microsoft.com/office/drawing/2014/main" id="{7C299B9B-6FD3-5BC5-1645-307E5368AFBF}"/>
              </a:ext>
            </a:extLst>
          </p:cNvPr>
          <p:cNvSpPr txBox="1">
            <a:spLocks/>
          </p:cNvSpPr>
          <p:nvPr/>
        </p:nvSpPr>
        <p:spPr>
          <a:xfrm>
            <a:off x="488353" y="830599"/>
            <a:ext cx="10558800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46B1E1"/>
                </a:solidFill>
              </a:rPr>
              <a:t>Model – </a:t>
            </a:r>
            <a:r>
              <a:rPr lang="de-DE" dirty="0" err="1">
                <a:solidFill>
                  <a:srgbClr val="46B1E1"/>
                </a:solidFill>
              </a:rPr>
              <a:t>Neural</a:t>
            </a:r>
            <a:r>
              <a:rPr lang="de-DE" dirty="0">
                <a:solidFill>
                  <a:srgbClr val="46B1E1"/>
                </a:solidFill>
              </a:rPr>
              <a:t> Network</a:t>
            </a: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225BC586-8AE9-F07D-2B53-054C35150239}"/>
              </a:ext>
            </a:extLst>
          </p:cNvPr>
          <p:cNvSpPr txBox="1"/>
          <p:nvPr/>
        </p:nvSpPr>
        <p:spPr>
          <a:xfrm>
            <a:off x="0" y="5633892"/>
            <a:ext cx="12192000" cy="279131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AU" dirty="0">
                <a:solidFill>
                  <a:schemeClr val="bg1"/>
                </a:solidFill>
              </a:rPr>
              <a:t>2 intermediate layers, </a:t>
            </a:r>
            <a:r>
              <a:rPr lang="en-AU" dirty="0" err="1">
                <a:solidFill>
                  <a:schemeClr val="bg1"/>
                </a:solidFill>
              </a:rPr>
              <a:t>ReLU</a:t>
            </a:r>
            <a:r>
              <a:rPr lang="en-AU" dirty="0">
                <a:solidFill>
                  <a:schemeClr val="bg1"/>
                </a:solidFill>
              </a:rPr>
              <a:t> activation , regularisation: Dropout against overfitting, early stopping</a:t>
            </a:r>
          </a:p>
        </p:txBody>
      </p:sp>
      <p:cxnSp>
        <p:nvCxnSpPr>
          <p:cNvPr id="7" name="Gerader Verbinder 6">
            <a:extLst>
              <a:ext uri="{FF2B5EF4-FFF2-40B4-BE49-F238E27FC236}">
                <a16:creationId xmlns:a16="http://schemas.microsoft.com/office/drawing/2014/main" id="{D4D8F9D7-1187-03C1-AB33-8B508A6DA3E6}"/>
              </a:ext>
            </a:extLst>
          </p:cNvPr>
          <p:cNvCxnSpPr/>
          <p:nvPr/>
        </p:nvCxnSpPr>
        <p:spPr>
          <a:xfrm>
            <a:off x="5388076" y="1638886"/>
            <a:ext cx="0" cy="3674692"/>
          </a:xfrm>
          <a:prstGeom prst="line">
            <a:avLst/>
          </a:prstGeom>
          <a:ln w="28575">
            <a:solidFill>
              <a:srgbClr val="46B1E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Grafik 7">
            <a:extLst>
              <a:ext uri="{FF2B5EF4-FFF2-40B4-BE49-F238E27FC236}">
                <a16:creationId xmlns:a16="http://schemas.microsoft.com/office/drawing/2014/main" id="{AAD2D314-A045-F421-4AF2-D785E1AA46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92944" y="3496382"/>
            <a:ext cx="3231755" cy="2135634"/>
          </a:xfrm>
          <a:prstGeom prst="rect">
            <a:avLst/>
          </a:prstGeom>
        </p:spPr>
      </p:pic>
      <p:pic>
        <p:nvPicPr>
          <p:cNvPr id="9" name="Grafik 8">
            <a:extLst>
              <a:ext uri="{FF2B5EF4-FFF2-40B4-BE49-F238E27FC236}">
                <a16:creationId xmlns:a16="http://schemas.microsoft.com/office/drawing/2014/main" id="{CFCA657F-AC4B-1CBC-A28A-68AEE62DFE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1583" y="1440043"/>
            <a:ext cx="3213116" cy="2022154"/>
          </a:xfrm>
          <a:prstGeom prst="rect">
            <a:avLst/>
          </a:prstGeom>
        </p:spPr>
      </p:pic>
      <p:pic>
        <p:nvPicPr>
          <p:cNvPr id="10" name="Grafik 9">
            <a:extLst>
              <a:ext uri="{FF2B5EF4-FFF2-40B4-BE49-F238E27FC236}">
                <a16:creationId xmlns:a16="http://schemas.microsoft.com/office/drawing/2014/main" id="{77C28C99-2356-9C5D-D728-186247B4E15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4497" y="1470905"/>
            <a:ext cx="6085806" cy="2486552"/>
          </a:xfrm>
          <a:prstGeom prst="rect">
            <a:avLst/>
          </a:prstGeom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02523671-A6A7-7176-68C0-E0B023F9B5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02976" y="4000636"/>
            <a:ext cx="2727151" cy="1228717"/>
          </a:xfrm>
          <a:prstGeom prst="rect">
            <a:avLst/>
          </a:prstGeom>
        </p:spPr>
      </p:pic>
      <p:pic>
        <p:nvPicPr>
          <p:cNvPr id="13" name="Grafik 12">
            <a:extLst>
              <a:ext uri="{FF2B5EF4-FFF2-40B4-BE49-F238E27FC236}">
                <a16:creationId xmlns:a16="http://schemas.microsoft.com/office/drawing/2014/main" id="{CEC223CF-3883-7F79-C225-1A9E97D728B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73177" y="4000636"/>
            <a:ext cx="2652823" cy="1219857"/>
          </a:xfrm>
          <a:prstGeom prst="rect">
            <a:avLst/>
          </a:prstGeom>
        </p:spPr>
      </p:pic>
      <p:sp>
        <p:nvSpPr>
          <p:cNvPr id="14" name="Rechteck 13">
            <a:extLst>
              <a:ext uri="{FF2B5EF4-FFF2-40B4-BE49-F238E27FC236}">
                <a16:creationId xmlns:a16="http://schemas.microsoft.com/office/drawing/2014/main" id="{4DC2E361-97DD-077C-1A6A-5B85839EF610}"/>
              </a:ext>
            </a:extLst>
          </p:cNvPr>
          <p:cNvSpPr/>
          <p:nvPr/>
        </p:nvSpPr>
        <p:spPr>
          <a:xfrm>
            <a:off x="6195470" y="4599396"/>
            <a:ext cx="5355413" cy="144620"/>
          </a:xfrm>
          <a:prstGeom prst="rect">
            <a:avLst/>
          </a:prstGeom>
          <a:noFill/>
          <a:ln w="19050" cap="flat" cmpd="sng" algn="ctr">
            <a:solidFill>
              <a:srgbClr val="46B1E1"/>
            </a:solidFill>
            <a:prstDash val="solid"/>
          </a:ln>
          <a:effectLst/>
        </p:spPr>
        <p:txBody>
          <a:bodyPr rtlCol="0" anchor="ctr"/>
          <a:lstStyle/>
          <a:p>
            <a:pPr marL="0" marR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e-DE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Bosch Office San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426973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82D72F-BEE9-76A6-9448-EEDA237D72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16">
            <a:extLst>
              <a:ext uri="{FF2B5EF4-FFF2-40B4-BE49-F238E27FC236}">
                <a16:creationId xmlns:a16="http://schemas.microsoft.com/office/drawing/2014/main" id="{7FCD4824-4368-430C-269E-B83D8C6FD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8353" y="427001"/>
            <a:ext cx="10800000" cy="360000"/>
          </a:xfrm>
        </p:spPr>
        <p:txBody>
          <a:bodyPr>
            <a:normAutofit fontScale="90000"/>
          </a:bodyPr>
          <a:lstStyle/>
          <a:p>
            <a:r>
              <a:rPr lang="de-DE" dirty="0"/>
              <a:t>Data Science </a:t>
            </a:r>
            <a:r>
              <a:rPr lang="de-DE" dirty="0" err="1"/>
              <a:t>Advanced</a:t>
            </a:r>
            <a:r>
              <a:rPr lang="de-DE" dirty="0"/>
              <a:t> – Bank Fraud</a:t>
            </a:r>
          </a:p>
        </p:txBody>
      </p:sp>
      <p:sp>
        <p:nvSpPr>
          <p:cNvPr id="6" name="Fußzeilenplatzhalter 1">
            <a:extLst>
              <a:ext uri="{FF2B5EF4-FFF2-40B4-BE49-F238E27FC236}">
                <a16:creationId xmlns:a16="http://schemas.microsoft.com/office/drawing/2014/main" id="{33A48464-8386-3FBB-AFB0-84B2C28D7693}"/>
              </a:ext>
            </a:extLst>
          </p:cNvPr>
          <p:cNvSpPr txBox="1">
            <a:spLocks/>
          </p:cNvSpPr>
          <p:nvPr/>
        </p:nvSpPr>
        <p:spPr>
          <a:xfrm>
            <a:off x="516470" y="6465924"/>
            <a:ext cx="11523129" cy="365125"/>
          </a:xfrm>
          <a:prstGeom prst="rect">
            <a:avLst/>
          </a:prstGeom>
        </p:spPr>
        <p:txBody>
          <a:bodyPr/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000" kern="0" noProof="1"/>
              <a:t>Marc-Vincent Müller | </a:t>
            </a:r>
            <a:r>
              <a:rPr lang="de-DE" sz="1000" kern="0" dirty="0"/>
              <a:t>Data Science </a:t>
            </a:r>
            <a:r>
              <a:rPr lang="de-DE" sz="1000" kern="0" dirty="0" err="1"/>
              <a:t>Advanced</a:t>
            </a:r>
            <a:r>
              <a:rPr lang="de-DE" sz="1000" kern="0" dirty="0"/>
              <a:t> - Bank Fraud Classification Project</a:t>
            </a:r>
            <a:r>
              <a:rPr lang="en-US" sz="1000" kern="0" noProof="1"/>
              <a:t> | 12.12.2025							</a:t>
            </a:r>
            <a:fld id="{84657114-EDC7-41E0-9FB3-EE17A95DA6E7}" type="slidenum">
              <a:rPr lang="de-DE" sz="1200" smtClean="0">
                <a:cs typeface="Times New Roman" panose="02020603050405020304" pitchFamily="18" charset="0"/>
              </a:rPr>
              <a:t>7</a:t>
            </a:fld>
            <a:r>
              <a:rPr lang="de-DE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																								</a:t>
            </a:r>
          </a:p>
        </p:txBody>
      </p:sp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B0539C23-3C3D-D1D8-1609-D636997FF581}"/>
              </a:ext>
            </a:extLst>
          </p:cNvPr>
          <p:cNvCxnSpPr>
            <a:cxnSpLocks/>
          </p:cNvCxnSpPr>
          <p:nvPr/>
        </p:nvCxnSpPr>
        <p:spPr>
          <a:xfrm flipH="1">
            <a:off x="441553" y="1217522"/>
            <a:ext cx="11304000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itel 1">
            <a:extLst>
              <a:ext uri="{FF2B5EF4-FFF2-40B4-BE49-F238E27FC236}">
                <a16:creationId xmlns:a16="http://schemas.microsoft.com/office/drawing/2014/main" id="{283FEB8B-7F7A-13CF-B4F8-1100900F5C89}"/>
              </a:ext>
            </a:extLst>
          </p:cNvPr>
          <p:cNvSpPr txBox="1">
            <a:spLocks/>
          </p:cNvSpPr>
          <p:nvPr/>
        </p:nvSpPr>
        <p:spPr>
          <a:xfrm>
            <a:off x="488353" y="830599"/>
            <a:ext cx="10558800" cy="388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5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dirty="0">
                <a:solidFill>
                  <a:srgbClr val="46B1E1"/>
                </a:solidFill>
              </a:rPr>
              <a:t>Model – </a:t>
            </a:r>
            <a:r>
              <a:rPr lang="de-DE" dirty="0" err="1">
                <a:solidFill>
                  <a:srgbClr val="46B1E1"/>
                </a:solidFill>
              </a:rPr>
              <a:t>Comparison</a:t>
            </a:r>
            <a:r>
              <a:rPr lang="de-DE" dirty="0">
                <a:solidFill>
                  <a:srgbClr val="46B1E1"/>
                </a:solidFill>
              </a:rPr>
              <a:t> and </a:t>
            </a:r>
            <a:r>
              <a:rPr lang="de-DE" dirty="0" err="1">
                <a:solidFill>
                  <a:srgbClr val="46B1E1"/>
                </a:solidFill>
              </a:rPr>
              <a:t>summary</a:t>
            </a:r>
            <a:endParaRPr lang="de-DE" dirty="0">
              <a:solidFill>
                <a:srgbClr val="46B1E1"/>
              </a:solidFill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9300E7C5-F992-3EFF-214D-E42E40BD4974}"/>
              </a:ext>
            </a:extLst>
          </p:cNvPr>
          <p:cNvSpPr txBox="1"/>
          <p:nvPr/>
        </p:nvSpPr>
        <p:spPr>
          <a:xfrm>
            <a:off x="0" y="5633892"/>
            <a:ext cx="12192000" cy="551755"/>
          </a:xfrm>
          <a:prstGeom prst="rect">
            <a:avLst/>
          </a:prstGeom>
          <a:solidFill>
            <a:srgbClr val="002060"/>
          </a:solidFill>
          <a:ln>
            <a:solidFill>
              <a:srgbClr val="002060"/>
            </a:solidFill>
          </a:ln>
        </p:spPr>
        <p:txBody>
          <a:bodyPr wrap="square" lIns="0" tIns="0" rIns="0" bIns="0" rtlCol="0">
            <a:noAutofit/>
          </a:bodyPr>
          <a:lstStyle/>
          <a:p>
            <a:pPr marL="269875" algn="ctr" fontAlgn="auto">
              <a:spcBef>
                <a:spcPts val="500"/>
              </a:spcBef>
              <a:spcAft>
                <a:spcPts val="0"/>
              </a:spcAft>
            </a:pPr>
            <a:r>
              <a:rPr lang="en-US" dirty="0">
                <a:solidFill>
                  <a:schemeClr val="bg1"/>
                </a:solidFill>
              </a:rPr>
              <a:t>Very similar scores regardless of the model, best results with </a:t>
            </a:r>
            <a:r>
              <a:rPr lang="en-US" dirty="0" err="1">
                <a:solidFill>
                  <a:schemeClr val="bg1"/>
                </a:solidFill>
              </a:rPr>
              <a:t>LightGBM</a:t>
            </a:r>
            <a:r>
              <a:rPr lang="en-US" dirty="0">
                <a:solidFill>
                  <a:schemeClr val="bg1"/>
                </a:solidFill>
              </a:rPr>
              <a:t>, </a:t>
            </a:r>
            <a:r>
              <a:rPr lang="de-DE" dirty="0" err="1">
                <a:solidFill>
                  <a:schemeClr val="bg1"/>
                </a:solidFill>
              </a:rPr>
              <a:t>difficult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fraud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detection</a:t>
            </a:r>
            <a:r>
              <a:rPr lang="de-DE" dirty="0">
                <a:solidFill>
                  <a:schemeClr val="bg1"/>
                </a:solidFill>
              </a:rPr>
              <a:t> due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uneven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distrubtion</a:t>
            </a:r>
            <a:r>
              <a:rPr lang="de-DE" dirty="0">
                <a:solidFill>
                  <a:schemeClr val="bg1"/>
                </a:solidFill>
              </a:rPr>
              <a:t>, Additional </a:t>
            </a:r>
            <a:r>
              <a:rPr lang="de-DE" dirty="0" err="1">
                <a:solidFill>
                  <a:schemeClr val="bg1"/>
                </a:solidFill>
              </a:rPr>
              <a:t>features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required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to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improve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model</a:t>
            </a:r>
            <a:r>
              <a:rPr lang="de-DE" dirty="0">
                <a:solidFill>
                  <a:schemeClr val="bg1"/>
                </a:solidFill>
              </a:rPr>
              <a:t> (</a:t>
            </a:r>
            <a:r>
              <a:rPr lang="de-DE" dirty="0" err="1">
                <a:solidFill>
                  <a:schemeClr val="bg1"/>
                </a:solidFill>
              </a:rPr>
              <a:t>for</a:t>
            </a:r>
            <a:r>
              <a:rPr lang="de-DE" dirty="0">
                <a:solidFill>
                  <a:schemeClr val="bg1"/>
                </a:solidFill>
              </a:rPr>
              <a:t> </a:t>
            </a:r>
            <a:r>
              <a:rPr lang="de-DE" dirty="0" err="1">
                <a:solidFill>
                  <a:schemeClr val="bg1"/>
                </a:solidFill>
              </a:rPr>
              <a:t>example</a:t>
            </a:r>
            <a:r>
              <a:rPr lang="de-DE" dirty="0">
                <a:solidFill>
                  <a:schemeClr val="bg1"/>
                </a:solidFill>
              </a:rPr>
              <a:t> x1 and x2)</a:t>
            </a:r>
          </a:p>
        </p:txBody>
      </p:sp>
      <p:pic>
        <p:nvPicPr>
          <p:cNvPr id="16" name="Grafik 15">
            <a:extLst>
              <a:ext uri="{FF2B5EF4-FFF2-40B4-BE49-F238E27FC236}">
                <a16:creationId xmlns:a16="http://schemas.microsoft.com/office/drawing/2014/main" id="{6BE8E960-B4DF-6259-2DFB-B970A2B538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97143" y="1545860"/>
            <a:ext cx="6983197" cy="365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8356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575</Words>
  <Application>Microsoft Office PowerPoint</Application>
  <PresentationFormat>Breitbild</PresentationFormat>
  <Paragraphs>47</Paragraphs>
  <Slides>7</Slides>
  <Notes>7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Bosch Office Sans</vt:lpstr>
      <vt:lpstr>Times New Roman</vt:lpstr>
      <vt:lpstr>Wingdings</vt:lpstr>
      <vt:lpstr>Office</vt:lpstr>
      <vt:lpstr>Data Science Advanced Bank Fraud Classification Project</vt:lpstr>
      <vt:lpstr>Data Science Advanced – Bank Fraud</vt:lpstr>
      <vt:lpstr>Data Science Advanced – Bank Fraud</vt:lpstr>
      <vt:lpstr>Data Science Advanced – Bank Fraud</vt:lpstr>
      <vt:lpstr>Data Science Advanced – Bank Fraud</vt:lpstr>
      <vt:lpstr>Data Science Advanced – Bank Fraud</vt:lpstr>
      <vt:lpstr>Data Science Advanced – Bank Fraud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Marc-Vincent Müller</dc:creator>
  <cp:lastModifiedBy>Mueller Marc-Vincent (PS/PJ-SF1)</cp:lastModifiedBy>
  <cp:revision>22</cp:revision>
  <dcterms:created xsi:type="dcterms:W3CDTF">2024-03-16T08:32:47Z</dcterms:created>
  <dcterms:modified xsi:type="dcterms:W3CDTF">2026-02-17T18:47:48Z</dcterms:modified>
</cp:coreProperties>
</file>